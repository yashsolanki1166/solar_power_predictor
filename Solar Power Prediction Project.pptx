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Inter"/>
      <p:regular r:id="rId17"/>
      <p:bold r:id="rId18"/>
      <p:italic r:id="rId19"/>
      <p:boldItalic r:id="rId20"/>
    </p:embeddedFont>
    <p:embeddedFont>
      <p:font typeface="Oswald"/>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Italic.fntdata"/><Relationship Id="rId11" Type="http://schemas.openxmlformats.org/officeDocument/2006/relationships/slide" Target="slides/slide6.xml"/><Relationship Id="rId22" Type="http://schemas.openxmlformats.org/officeDocument/2006/relationships/font" Target="fonts/Oswald-bold.fntdata"/><Relationship Id="rId10" Type="http://schemas.openxmlformats.org/officeDocument/2006/relationships/slide" Target="slides/slide5.xml"/><Relationship Id="rId21" Type="http://schemas.openxmlformats.org/officeDocument/2006/relationships/font" Target="fonts/Oswald-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nter-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Inter-italic.fntdata"/><Relationship Id="rId6" Type="http://schemas.openxmlformats.org/officeDocument/2006/relationships/slide" Target="slides/slide1.xml"/><Relationship Id="rId18" Type="http://schemas.openxmlformats.org/officeDocument/2006/relationships/font" Target="fonts/Inter-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6.png"/><Relationship Id="rId6" Type="http://schemas.openxmlformats.org/officeDocument/2006/relationships/image" Target="../media/image4.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2.png"/><Relationship Id="rId9"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image" Target="../media/image6.png"/><Relationship Id="rId5" Type="http://schemas.openxmlformats.org/officeDocument/2006/relationships/image" Target="../media/image14.png"/><Relationship Id="rId6" Type="http://schemas.openxmlformats.org/officeDocument/2006/relationships/image" Target="../media/image5.png"/><Relationship Id="rId7" Type="http://schemas.openxmlformats.org/officeDocument/2006/relationships/image" Target="../media/image16.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1" Type="http://schemas.openxmlformats.org/officeDocument/2006/relationships/image" Target="../media/image15.png"/><Relationship Id="rId10" Type="http://schemas.openxmlformats.org/officeDocument/2006/relationships/image" Target="../media/image29.png"/><Relationship Id="rId13" Type="http://schemas.openxmlformats.org/officeDocument/2006/relationships/image" Target="../media/image33.png"/><Relationship Id="rId12" Type="http://schemas.openxmlformats.org/officeDocument/2006/relationships/image" Target="../media/image25.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30.png"/><Relationship Id="rId9" Type="http://schemas.openxmlformats.org/officeDocument/2006/relationships/image" Target="../media/image19.png"/><Relationship Id="rId14" Type="http://schemas.openxmlformats.org/officeDocument/2006/relationships/image" Target="../media/image27.png"/><Relationship Id="rId5" Type="http://schemas.openxmlformats.org/officeDocument/2006/relationships/image" Target="../media/image20.png"/><Relationship Id="rId6" Type="http://schemas.openxmlformats.org/officeDocument/2006/relationships/image" Target="../media/image23.png"/><Relationship Id="rId7" Type="http://schemas.openxmlformats.org/officeDocument/2006/relationships/image" Target="../media/image18.png"/><Relationship Id="rId8"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38.png"/><Relationship Id="rId5" Type="http://schemas.openxmlformats.org/officeDocument/2006/relationships/image" Target="../media/image4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4.png"/><Relationship Id="rId7" Type="http://schemas.openxmlformats.org/officeDocument/2006/relationships/image" Target="../media/image40.png"/><Relationship Id="rId8"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50.png"/><Relationship Id="rId7"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8.png"/><Relationship Id="rId9"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555432" y="2573684"/>
            <a:ext cx="9081135" cy="11239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F8FAFC"/>
                </a:solidFill>
                <a:latin typeface="Oswald"/>
                <a:ea typeface="Oswald"/>
                <a:cs typeface="Oswald"/>
                <a:sym typeface="Oswald"/>
              </a:rPr>
              <a:t>SOLAR POWER PREDICTION</a:t>
            </a:r>
            <a:endParaRPr/>
          </a:p>
        </p:txBody>
      </p:sp>
      <p:sp>
        <p:nvSpPr>
          <p:cNvPr id="86" name="Google Shape;86;p13"/>
          <p:cNvSpPr txBox="1"/>
          <p:nvPr/>
        </p:nvSpPr>
        <p:spPr>
          <a:xfrm>
            <a:off x="1771650" y="4002434"/>
            <a:ext cx="864870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2400" u="none" cap="none" strike="noStrike">
                <a:solidFill>
                  <a:srgbClr val="FACC15"/>
                </a:solidFill>
                <a:latin typeface="Inter"/>
                <a:ea typeface="Inter"/>
                <a:cs typeface="Inter"/>
                <a:sym typeface="Inter"/>
              </a:rPr>
              <a:t>ML + Edge Impulse (BYOM) + WebAssembly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2" name="Google Shape;92;p14"/>
          <p:cNvPicPr preferRelativeResize="0"/>
          <p:nvPr/>
        </p:nvPicPr>
        <p:blipFill rotWithShape="1">
          <a:blip r:embed="rId4">
            <a:alphaModFix/>
          </a:blip>
          <a:srcRect b="0" l="0" r="0" t="0"/>
          <a:stretch/>
        </p:blipFill>
        <p:spPr>
          <a:xfrm>
            <a:off x="6381750" y="2323207"/>
            <a:ext cx="5238750" cy="3810000"/>
          </a:xfrm>
          <a:prstGeom prst="rect">
            <a:avLst/>
          </a:prstGeom>
          <a:noFill/>
          <a:ln>
            <a:noFill/>
          </a:ln>
        </p:spPr>
      </p:pic>
      <p:sp>
        <p:nvSpPr>
          <p:cNvPr id="93" name="Google Shape;93;p14"/>
          <p:cNvSpPr txBox="1"/>
          <p:nvPr/>
        </p:nvSpPr>
        <p:spPr>
          <a:xfrm>
            <a:off x="571500" y="950862"/>
            <a:ext cx="11601450"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Oswald"/>
                <a:ea typeface="Oswald"/>
                <a:cs typeface="Oswald"/>
                <a:sym typeface="Oswald"/>
              </a:rPr>
              <a:t>PROBLEM STATEMENT</a:t>
            </a:r>
            <a:endParaRPr/>
          </a:p>
        </p:txBody>
      </p:sp>
      <p:sp>
        <p:nvSpPr>
          <p:cNvPr id="94" name="Google Shape;94;p14"/>
          <p:cNvSpPr/>
          <p:nvPr/>
        </p:nvSpPr>
        <p:spPr>
          <a:xfrm>
            <a:off x="571500" y="1770012"/>
            <a:ext cx="11049000" cy="19050"/>
          </a:xfrm>
          <a:prstGeom prst="rect">
            <a:avLst/>
          </a:prstGeom>
          <a:solidFill>
            <a:srgbClr val="FACC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 name="Google Shape;95;p14"/>
          <p:cNvSpPr txBox="1"/>
          <p:nvPr/>
        </p:nvSpPr>
        <p:spPr>
          <a:xfrm>
            <a:off x="571500" y="2427386"/>
            <a:ext cx="5238750" cy="1097012"/>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The primary goal is to </a:t>
            </a:r>
            <a:r>
              <a:rPr b="1" i="0" lang="en-US" sz="1800" u="none" cap="none" strike="noStrike">
                <a:solidFill>
                  <a:srgbClr val="CBD5E1"/>
                </a:solidFill>
                <a:latin typeface="Inter"/>
                <a:ea typeface="Inter"/>
                <a:cs typeface="Inter"/>
                <a:sym typeface="Inter"/>
              </a:rPr>
              <a:t>predict the maximum solar power output</a:t>
            </a:r>
            <a:r>
              <a:rPr b="0" i="0" lang="en-US" sz="1800" u="none" cap="none" strike="noStrike">
                <a:solidFill>
                  <a:srgbClr val="CBD5E1"/>
                </a:solidFill>
                <a:latin typeface="Inter"/>
                <a:ea typeface="Inter"/>
                <a:cs typeface="Inter"/>
                <a:sym typeface="Inter"/>
              </a:rPr>
              <a:t> to determine the most efficient placement for solar panels.</a:t>
            </a:r>
            <a:endParaRPr/>
          </a:p>
        </p:txBody>
      </p:sp>
      <p:pic>
        <p:nvPicPr>
          <p:cNvPr descr="image.png" id="96" name="Google Shape;96;p14"/>
          <p:cNvPicPr preferRelativeResize="0"/>
          <p:nvPr/>
        </p:nvPicPr>
        <p:blipFill rotWithShape="1">
          <a:blip r:embed="rId5">
            <a:alphaModFix/>
          </a:blip>
          <a:srcRect b="0" l="0" r="0" t="0"/>
          <a:stretch/>
        </p:blipFill>
        <p:spPr>
          <a:xfrm>
            <a:off x="6381750" y="2323207"/>
            <a:ext cx="5238750" cy="3810000"/>
          </a:xfrm>
          <a:prstGeom prst="rect">
            <a:avLst/>
          </a:prstGeom>
          <a:noFill/>
          <a:ln>
            <a:noFill/>
          </a:ln>
        </p:spPr>
      </p:pic>
      <p:sp>
        <p:nvSpPr>
          <p:cNvPr id="97" name="Google Shape;97;p14"/>
          <p:cNvSpPr txBox="1"/>
          <p:nvPr/>
        </p:nvSpPr>
        <p:spPr>
          <a:xfrm>
            <a:off x="1428750" y="3714898"/>
            <a:ext cx="4381500"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Analyze environmental &amp; meteorological data.</a:t>
            </a:r>
            <a:endParaRPr/>
          </a:p>
        </p:txBody>
      </p:sp>
      <p:sp>
        <p:nvSpPr>
          <p:cNvPr id="98" name="Google Shape;98;p14"/>
          <p:cNvSpPr txBox="1"/>
          <p:nvPr/>
        </p:nvSpPr>
        <p:spPr>
          <a:xfrm>
            <a:off x="819150" y="4686270"/>
            <a:ext cx="13335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CBD5E1"/>
                </a:solidFill>
                <a:latin typeface="Inter"/>
                <a:ea typeface="Inter"/>
                <a:cs typeface="Inter"/>
                <a:sym typeface="Inter"/>
              </a:rPr>
              <a:t>•</a:t>
            </a:r>
            <a:endParaRPr/>
          </a:p>
        </p:txBody>
      </p:sp>
      <p:sp>
        <p:nvSpPr>
          <p:cNvPr id="99" name="Google Shape;99;p14"/>
          <p:cNvSpPr txBox="1"/>
          <p:nvPr/>
        </p:nvSpPr>
        <p:spPr>
          <a:xfrm>
            <a:off x="1428750" y="4684365"/>
            <a:ext cx="4381500" cy="731341"/>
          </a:xfrm>
          <a:prstGeom prst="rect">
            <a:avLst/>
          </a:prstGeom>
          <a:noFill/>
          <a:ln>
            <a:noFill/>
          </a:ln>
        </p:spPr>
        <p:txBody>
          <a:bodyPr anchorCtr="0" anchor="t" bIns="0" lIns="13335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 Estimate solar irradiance for the next 24 hours.</a:t>
            </a:r>
            <a:endParaRPr/>
          </a:p>
        </p:txBody>
      </p:sp>
      <p:sp>
        <p:nvSpPr>
          <p:cNvPr id="100" name="Google Shape;100;p14"/>
          <p:cNvSpPr txBox="1"/>
          <p:nvPr/>
        </p:nvSpPr>
        <p:spPr>
          <a:xfrm>
            <a:off x="1428750" y="5653831"/>
            <a:ext cx="438150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Optimize energy generation efficiency.</a:t>
            </a:r>
            <a:endParaRPr/>
          </a:p>
        </p:txBody>
      </p:sp>
      <p:pic>
        <p:nvPicPr>
          <p:cNvPr descr="image.png" id="101" name="Google Shape;101;p14"/>
          <p:cNvPicPr preferRelativeResize="0"/>
          <p:nvPr/>
        </p:nvPicPr>
        <p:blipFill rotWithShape="1">
          <a:blip r:embed="rId6">
            <a:alphaModFix/>
          </a:blip>
          <a:srcRect b="0" l="0" r="0" t="0"/>
          <a:stretch/>
        </p:blipFill>
        <p:spPr>
          <a:xfrm>
            <a:off x="952500" y="3762523"/>
            <a:ext cx="266700" cy="266700"/>
          </a:xfrm>
          <a:prstGeom prst="rect">
            <a:avLst/>
          </a:prstGeom>
          <a:noFill/>
          <a:ln>
            <a:noFill/>
          </a:ln>
        </p:spPr>
      </p:pic>
      <p:pic>
        <p:nvPicPr>
          <p:cNvPr descr="image.png" id="102" name="Google Shape;102;p14"/>
          <p:cNvPicPr preferRelativeResize="0"/>
          <p:nvPr/>
        </p:nvPicPr>
        <p:blipFill rotWithShape="1">
          <a:blip r:embed="rId7">
            <a:alphaModFix/>
          </a:blip>
          <a:srcRect b="0" l="0" r="0" t="0"/>
          <a:stretch/>
        </p:blipFill>
        <p:spPr>
          <a:xfrm>
            <a:off x="952500" y="5701456"/>
            <a:ext cx="266700" cy="266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descr="image.png" id="107" name="Google Shape;107;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8" name="Google Shape;108;p15"/>
          <p:cNvPicPr preferRelativeResize="0"/>
          <p:nvPr/>
        </p:nvPicPr>
        <p:blipFill rotWithShape="1">
          <a:blip r:embed="rId4">
            <a:alphaModFix/>
          </a:blip>
          <a:srcRect b="0" l="0" r="0" t="0"/>
          <a:stretch/>
        </p:blipFill>
        <p:spPr>
          <a:xfrm>
            <a:off x="571500" y="2976711"/>
            <a:ext cx="3492549" cy="2502991"/>
          </a:xfrm>
          <a:prstGeom prst="rect">
            <a:avLst/>
          </a:prstGeom>
          <a:noFill/>
          <a:ln>
            <a:noFill/>
          </a:ln>
        </p:spPr>
      </p:pic>
      <p:pic>
        <p:nvPicPr>
          <p:cNvPr descr="image.png" id="109" name="Google Shape;109;p15"/>
          <p:cNvPicPr preferRelativeResize="0"/>
          <p:nvPr/>
        </p:nvPicPr>
        <p:blipFill rotWithShape="1">
          <a:blip r:embed="rId5">
            <a:alphaModFix/>
          </a:blip>
          <a:srcRect b="0" l="0" r="0" t="0"/>
          <a:stretch/>
        </p:blipFill>
        <p:spPr>
          <a:xfrm>
            <a:off x="4349799" y="2976711"/>
            <a:ext cx="3492549" cy="2502991"/>
          </a:xfrm>
          <a:prstGeom prst="rect">
            <a:avLst/>
          </a:prstGeom>
          <a:noFill/>
          <a:ln>
            <a:noFill/>
          </a:ln>
        </p:spPr>
      </p:pic>
      <p:pic>
        <p:nvPicPr>
          <p:cNvPr descr="image.png" id="110" name="Google Shape;110;p15"/>
          <p:cNvPicPr preferRelativeResize="0"/>
          <p:nvPr/>
        </p:nvPicPr>
        <p:blipFill rotWithShape="1">
          <a:blip r:embed="rId6">
            <a:alphaModFix/>
          </a:blip>
          <a:srcRect b="0" l="0" r="0" t="0"/>
          <a:stretch/>
        </p:blipFill>
        <p:spPr>
          <a:xfrm>
            <a:off x="8128099" y="2976711"/>
            <a:ext cx="3492549" cy="2502991"/>
          </a:xfrm>
          <a:prstGeom prst="rect">
            <a:avLst/>
          </a:prstGeom>
          <a:noFill/>
          <a:ln>
            <a:noFill/>
          </a:ln>
        </p:spPr>
      </p:pic>
      <p:sp>
        <p:nvSpPr>
          <p:cNvPr id="111" name="Google Shape;111;p15"/>
          <p:cNvSpPr txBox="1"/>
          <p:nvPr/>
        </p:nvSpPr>
        <p:spPr>
          <a:xfrm>
            <a:off x="571500" y="950862"/>
            <a:ext cx="11601450"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Oswald"/>
                <a:ea typeface="Oswald"/>
                <a:cs typeface="Oswald"/>
                <a:sym typeface="Oswald"/>
              </a:rPr>
              <a:t>DATASET &amp; FEATURES</a:t>
            </a:r>
            <a:endParaRPr/>
          </a:p>
        </p:txBody>
      </p:sp>
      <p:sp>
        <p:nvSpPr>
          <p:cNvPr id="112" name="Google Shape;112;p15"/>
          <p:cNvSpPr/>
          <p:nvPr/>
        </p:nvSpPr>
        <p:spPr>
          <a:xfrm>
            <a:off x="571500" y="1770012"/>
            <a:ext cx="11049000" cy="19050"/>
          </a:xfrm>
          <a:prstGeom prst="rect">
            <a:avLst/>
          </a:prstGeom>
          <a:solidFill>
            <a:srgbClr val="FACC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5"/>
          <p:cNvSpPr txBox="1"/>
          <p:nvPr/>
        </p:nvSpPr>
        <p:spPr>
          <a:xfrm>
            <a:off x="1577607" y="4072086"/>
            <a:ext cx="1480185"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Oswald"/>
                <a:ea typeface="Oswald"/>
                <a:cs typeface="Oswald"/>
                <a:sym typeface="Oswald"/>
              </a:rPr>
              <a:t>INPUT FEATURES</a:t>
            </a:r>
            <a:endParaRPr/>
          </a:p>
        </p:txBody>
      </p:sp>
      <p:sp>
        <p:nvSpPr>
          <p:cNvPr id="114" name="Google Shape;114;p15"/>
          <p:cNvSpPr txBox="1"/>
          <p:nvPr/>
        </p:nvSpPr>
        <p:spPr>
          <a:xfrm>
            <a:off x="771525" y="4453086"/>
            <a:ext cx="3092499" cy="73134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35 comprehensive input features including weather conditions and environmental parameters.</a:t>
            </a:r>
            <a:endParaRPr/>
          </a:p>
        </p:txBody>
      </p:sp>
      <p:sp>
        <p:nvSpPr>
          <p:cNvPr id="115" name="Google Shape;115;p15"/>
          <p:cNvSpPr txBox="1"/>
          <p:nvPr/>
        </p:nvSpPr>
        <p:spPr>
          <a:xfrm>
            <a:off x="5480923" y="4161532"/>
            <a:ext cx="1230153"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Oswald"/>
                <a:ea typeface="Oswald"/>
                <a:cs typeface="Oswald"/>
                <a:sym typeface="Oswald"/>
              </a:rPr>
              <a:t>DATA SOURCE</a:t>
            </a:r>
            <a:endParaRPr/>
          </a:p>
        </p:txBody>
      </p:sp>
      <p:sp>
        <p:nvSpPr>
          <p:cNvPr id="116" name="Google Shape;116;p15"/>
          <p:cNvSpPr txBox="1"/>
          <p:nvPr/>
        </p:nvSpPr>
        <p:spPr>
          <a:xfrm>
            <a:off x="5286375" y="4542532"/>
            <a:ext cx="16192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200" u="none" cap="none" strike="noStrike">
                <a:solidFill>
                  <a:srgbClr val="CBD5E1"/>
                </a:solidFill>
                <a:latin typeface="Inter"/>
                <a:ea typeface="Inter"/>
                <a:cs typeface="Inter"/>
                <a:sym typeface="Inter"/>
              </a:rPr>
              <a:t>NASA POWER Project</a:t>
            </a:r>
            <a:endParaRPr/>
          </a:p>
        </p:txBody>
      </p:sp>
      <p:sp>
        <p:nvSpPr>
          <p:cNvPr id="117" name="Google Shape;117;p15"/>
          <p:cNvSpPr txBox="1"/>
          <p:nvPr/>
        </p:nvSpPr>
        <p:spPr>
          <a:xfrm>
            <a:off x="4800600" y="4881562"/>
            <a:ext cx="2590800" cy="213270"/>
          </a:xfrm>
          <a:prstGeom prst="rect">
            <a:avLst/>
          </a:prstGeom>
          <a:noFill/>
          <a:ln>
            <a:noFill/>
          </a:ln>
        </p:spPr>
        <p:txBody>
          <a:bodyPr anchorCtr="0" anchor="t" bIns="0" lIns="0" spcFirstLastPara="1" rIns="0" wrap="square" tIns="0">
            <a:spAutoFit/>
          </a:bodyPr>
          <a:lstStyle/>
          <a:p>
            <a:pPr indent="0" lvl="0" marL="0" marR="0" rtl="0" algn="ctr">
              <a:lnSpc>
                <a:spcPct val="159904"/>
              </a:lnSpc>
              <a:spcBef>
                <a:spcPts val="0"/>
              </a:spcBef>
              <a:spcAft>
                <a:spcPts val="0"/>
              </a:spcAft>
              <a:buNone/>
            </a:pPr>
            <a:r>
              <a:rPr b="0" i="0" lang="en-US" sz="1050" u="none" cap="none" strike="noStrike">
                <a:solidFill>
                  <a:srgbClr val="FACC15"/>
                </a:solidFill>
                <a:latin typeface="Inter"/>
                <a:ea typeface="Inter"/>
                <a:cs typeface="Inter"/>
                <a:sym typeface="Inter"/>
              </a:rPr>
              <a:t>power.larc.nasa.gov/data-access-viewer/</a:t>
            </a:r>
            <a:endParaRPr/>
          </a:p>
        </p:txBody>
      </p:sp>
      <p:sp>
        <p:nvSpPr>
          <p:cNvPr id="118" name="Google Shape;118;p15"/>
          <p:cNvSpPr txBox="1"/>
          <p:nvPr/>
        </p:nvSpPr>
        <p:spPr>
          <a:xfrm>
            <a:off x="9069198" y="4193976"/>
            <a:ext cx="1610201"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Oswald"/>
                <a:ea typeface="Oswald"/>
                <a:cs typeface="Oswald"/>
                <a:sym typeface="Oswald"/>
              </a:rPr>
              <a:t>TARGET VARIABLE</a:t>
            </a:r>
            <a:endParaRPr/>
          </a:p>
        </p:txBody>
      </p:sp>
      <p:sp>
        <p:nvSpPr>
          <p:cNvPr id="119" name="Google Shape;119;p15"/>
          <p:cNvSpPr txBox="1"/>
          <p:nvPr/>
        </p:nvSpPr>
        <p:spPr>
          <a:xfrm>
            <a:off x="8888462" y="4574976"/>
            <a:ext cx="1971675" cy="487560"/>
          </a:xfrm>
          <a:prstGeom prst="rect">
            <a:avLst/>
          </a:prstGeom>
          <a:noFill/>
          <a:ln>
            <a:noFill/>
          </a:ln>
        </p:spPr>
        <p:txBody>
          <a:bodyPr anchorCtr="0" anchor="t" bIns="0" lIns="0" spcFirstLastPara="1" rIns="0" wrap="square" tIns="0">
            <a:spAutoFit/>
          </a:bodyPr>
          <a:lstStyle/>
          <a:p>
            <a:pPr indent="0" lvl="0" marL="0" marR="0" rtl="0" algn="ctr">
              <a:lnSpc>
                <a:spcPct val="106666"/>
              </a:lnSpc>
              <a:spcBef>
                <a:spcPts val="0"/>
              </a:spcBef>
              <a:spcAft>
                <a:spcPts val="0"/>
              </a:spcAft>
              <a:buNone/>
            </a:pPr>
            <a:r>
              <a:rPr b="1" i="0" lang="en-US" sz="1200" u="none" cap="none" strike="noStrike">
                <a:solidFill>
                  <a:srgbClr val="CBD5E1"/>
                </a:solidFill>
                <a:latin typeface="Inter"/>
                <a:ea typeface="Inter"/>
                <a:cs typeface="Inter"/>
                <a:sym typeface="Inter"/>
              </a:rPr>
              <a:t>Solar Irradiance</a:t>
            </a:r>
            <a:br>
              <a:rPr b="0" i="0" lang="en-US" sz="1800" u="none" cap="none" strike="noStrike">
                <a:solidFill>
                  <a:schemeClr val="dk1"/>
                </a:solidFill>
                <a:latin typeface="Calibri"/>
                <a:ea typeface="Calibri"/>
                <a:cs typeface="Calibri"/>
                <a:sym typeface="Calibri"/>
              </a:rPr>
            </a:br>
            <a:r>
              <a:rPr b="0" i="0" lang="en-US" sz="1200" u="none" cap="none" strike="noStrike">
                <a:solidFill>
                  <a:srgbClr val="CBD5E1"/>
                </a:solidFill>
                <a:latin typeface="Inter"/>
                <a:ea typeface="Inter"/>
                <a:cs typeface="Inter"/>
                <a:sym typeface="Inter"/>
              </a:rPr>
              <a:t> (Continuous numeric value)</a:t>
            </a:r>
            <a:endParaRPr/>
          </a:p>
        </p:txBody>
      </p:sp>
      <p:pic>
        <p:nvPicPr>
          <p:cNvPr descr="image.png" id="120" name="Google Shape;120;p15"/>
          <p:cNvPicPr preferRelativeResize="0"/>
          <p:nvPr/>
        </p:nvPicPr>
        <p:blipFill rotWithShape="1">
          <a:blip r:embed="rId7">
            <a:alphaModFix/>
          </a:blip>
          <a:srcRect b="0" l="0" r="0" t="0"/>
          <a:stretch/>
        </p:blipFill>
        <p:spPr>
          <a:xfrm>
            <a:off x="2079575" y="3310086"/>
            <a:ext cx="476250" cy="381000"/>
          </a:xfrm>
          <a:prstGeom prst="rect">
            <a:avLst/>
          </a:prstGeom>
          <a:noFill/>
          <a:ln>
            <a:noFill/>
          </a:ln>
        </p:spPr>
      </p:pic>
      <p:pic>
        <p:nvPicPr>
          <p:cNvPr descr="image.png" id="121" name="Google Shape;121;p15"/>
          <p:cNvPicPr preferRelativeResize="0"/>
          <p:nvPr/>
        </p:nvPicPr>
        <p:blipFill rotWithShape="1">
          <a:blip r:embed="rId8">
            <a:alphaModFix/>
          </a:blip>
          <a:srcRect b="0" l="0" r="0" t="0"/>
          <a:stretch/>
        </p:blipFill>
        <p:spPr>
          <a:xfrm>
            <a:off x="5929312" y="3399532"/>
            <a:ext cx="333375" cy="381000"/>
          </a:xfrm>
          <a:prstGeom prst="rect">
            <a:avLst/>
          </a:prstGeom>
          <a:noFill/>
          <a:ln>
            <a:noFill/>
          </a:ln>
        </p:spPr>
      </p:pic>
      <p:pic>
        <p:nvPicPr>
          <p:cNvPr descr="image.png" id="122" name="Google Shape;122;p15"/>
          <p:cNvPicPr preferRelativeResize="0"/>
          <p:nvPr/>
        </p:nvPicPr>
        <p:blipFill rotWithShape="1">
          <a:blip r:embed="rId9">
            <a:alphaModFix/>
          </a:blip>
          <a:srcRect b="0" l="0" r="0" t="0"/>
          <a:stretch/>
        </p:blipFill>
        <p:spPr>
          <a:xfrm>
            <a:off x="9683799" y="3431976"/>
            <a:ext cx="381000" cy="381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image.png" id="127" name="Google Shape;12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8" name="Google Shape;128;p16"/>
          <p:cNvPicPr preferRelativeResize="0"/>
          <p:nvPr/>
        </p:nvPicPr>
        <p:blipFill rotWithShape="1">
          <a:blip r:embed="rId4">
            <a:alphaModFix/>
          </a:blip>
          <a:srcRect b="0" l="0" r="0" t="0"/>
          <a:stretch/>
        </p:blipFill>
        <p:spPr>
          <a:xfrm>
            <a:off x="6381750" y="2323207"/>
            <a:ext cx="5238750" cy="3810000"/>
          </a:xfrm>
          <a:prstGeom prst="rect">
            <a:avLst/>
          </a:prstGeom>
          <a:noFill/>
          <a:ln>
            <a:noFill/>
          </a:ln>
        </p:spPr>
      </p:pic>
      <p:sp>
        <p:nvSpPr>
          <p:cNvPr id="129" name="Google Shape;129;p16"/>
          <p:cNvSpPr txBox="1"/>
          <p:nvPr/>
        </p:nvSpPr>
        <p:spPr>
          <a:xfrm>
            <a:off x="571500" y="950862"/>
            <a:ext cx="11601450"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Oswald"/>
                <a:ea typeface="Oswald"/>
                <a:cs typeface="Oswald"/>
                <a:sym typeface="Oswald"/>
              </a:rPr>
              <a:t>MODEL ARCHITECTURE (PYTHON)</a:t>
            </a:r>
            <a:endParaRPr/>
          </a:p>
        </p:txBody>
      </p:sp>
      <p:sp>
        <p:nvSpPr>
          <p:cNvPr id="130" name="Google Shape;130;p16"/>
          <p:cNvSpPr/>
          <p:nvPr/>
        </p:nvSpPr>
        <p:spPr>
          <a:xfrm>
            <a:off x="571500" y="1770012"/>
            <a:ext cx="11049000" cy="19050"/>
          </a:xfrm>
          <a:prstGeom prst="rect">
            <a:avLst/>
          </a:prstGeom>
          <a:solidFill>
            <a:srgbClr val="FACC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6"/>
          <p:cNvSpPr txBox="1"/>
          <p:nvPr/>
        </p:nvSpPr>
        <p:spPr>
          <a:xfrm>
            <a:off x="571500" y="2885926"/>
            <a:ext cx="5500687"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38BDF8"/>
                </a:solidFill>
                <a:latin typeface="Oswald"/>
                <a:ea typeface="Oswald"/>
                <a:cs typeface="Oswald"/>
                <a:sym typeface="Oswald"/>
              </a:rPr>
              <a:t>REGRESSION NEURAL NETWORK</a:t>
            </a:r>
            <a:endParaRPr/>
          </a:p>
        </p:txBody>
      </p:sp>
      <p:pic>
        <p:nvPicPr>
          <p:cNvPr descr="image.png" id="132" name="Google Shape;132;p16"/>
          <p:cNvPicPr preferRelativeResize="0"/>
          <p:nvPr/>
        </p:nvPicPr>
        <p:blipFill rotWithShape="1">
          <a:blip r:embed="rId5">
            <a:alphaModFix/>
          </a:blip>
          <a:srcRect b="0" l="0" r="0" t="0"/>
          <a:stretch/>
        </p:blipFill>
        <p:spPr>
          <a:xfrm>
            <a:off x="6381750" y="2323207"/>
            <a:ext cx="5238750" cy="3810000"/>
          </a:xfrm>
          <a:prstGeom prst="rect">
            <a:avLst/>
          </a:prstGeom>
          <a:noFill/>
          <a:ln>
            <a:noFill/>
          </a:ln>
        </p:spPr>
      </p:pic>
      <p:sp>
        <p:nvSpPr>
          <p:cNvPr id="133" name="Google Shape;133;p16"/>
          <p:cNvSpPr txBox="1"/>
          <p:nvPr/>
        </p:nvSpPr>
        <p:spPr>
          <a:xfrm>
            <a:off x="1428750" y="3333601"/>
            <a:ext cx="438150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F8FAFC"/>
                </a:solidFill>
                <a:latin typeface="Inter"/>
                <a:ea typeface="Inter"/>
                <a:cs typeface="Inter"/>
                <a:sym typeface="Inter"/>
              </a:rPr>
              <a:t>Input Layer:</a:t>
            </a:r>
            <a:r>
              <a:rPr b="0" i="0" lang="en-US" sz="1800" u="none" cap="none" strike="noStrike">
                <a:solidFill>
                  <a:srgbClr val="CBD5E1"/>
                </a:solidFill>
                <a:latin typeface="Inter"/>
                <a:ea typeface="Inter"/>
                <a:cs typeface="Inter"/>
                <a:sym typeface="Inter"/>
              </a:rPr>
              <a:t> 35 Features</a:t>
            </a:r>
            <a:endParaRPr/>
          </a:p>
        </p:txBody>
      </p:sp>
      <p:sp>
        <p:nvSpPr>
          <p:cNvPr id="134" name="Google Shape;134;p16"/>
          <p:cNvSpPr txBox="1"/>
          <p:nvPr/>
        </p:nvSpPr>
        <p:spPr>
          <a:xfrm>
            <a:off x="1428750" y="3937396"/>
            <a:ext cx="438150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F8FAFC"/>
                </a:solidFill>
                <a:latin typeface="Inter"/>
                <a:ea typeface="Inter"/>
                <a:cs typeface="Inter"/>
                <a:sym typeface="Inter"/>
              </a:rPr>
              <a:t>Hidden Layer 1:</a:t>
            </a:r>
            <a:r>
              <a:rPr b="0" i="0" lang="en-US" sz="1800" u="none" cap="none" strike="noStrike">
                <a:solidFill>
                  <a:srgbClr val="CBD5E1"/>
                </a:solidFill>
                <a:latin typeface="Inter"/>
                <a:ea typeface="Inter"/>
                <a:cs typeface="Inter"/>
                <a:sym typeface="Inter"/>
              </a:rPr>
              <a:t> Dense(20), ReLU</a:t>
            </a:r>
            <a:endParaRPr/>
          </a:p>
        </p:txBody>
      </p:sp>
      <p:sp>
        <p:nvSpPr>
          <p:cNvPr id="135" name="Google Shape;135;p16"/>
          <p:cNvSpPr txBox="1"/>
          <p:nvPr/>
        </p:nvSpPr>
        <p:spPr>
          <a:xfrm>
            <a:off x="1428750" y="4541192"/>
            <a:ext cx="438150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F8FAFC"/>
                </a:solidFill>
                <a:latin typeface="Inter"/>
                <a:ea typeface="Inter"/>
                <a:cs typeface="Inter"/>
                <a:sym typeface="Inter"/>
              </a:rPr>
              <a:t>Hidden Layer 2:</a:t>
            </a:r>
            <a:r>
              <a:rPr b="0" i="0" lang="en-US" sz="1800" u="none" cap="none" strike="noStrike">
                <a:solidFill>
                  <a:srgbClr val="CBD5E1"/>
                </a:solidFill>
                <a:latin typeface="Inter"/>
                <a:ea typeface="Inter"/>
                <a:cs typeface="Inter"/>
                <a:sym typeface="Inter"/>
              </a:rPr>
              <a:t> Dense(10), ReLU</a:t>
            </a:r>
            <a:endParaRPr/>
          </a:p>
        </p:txBody>
      </p:sp>
      <p:sp>
        <p:nvSpPr>
          <p:cNvPr id="136" name="Google Shape;136;p16"/>
          <p:cNvSpPr txBox="1"/>
          <p:nvPr/>
        </p:nvSpPr>
        <p:spPr>
          <a:xfrm>
            <a:off x="1428750" y="5144988"/>
            <a:ext cx="438150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F8FAFC"/>
                </a:solidFill>
                <a:latin typeface="Inter"/>
                <a:ea typeface="Inter"/>
                <a:cs typeface="Inter"/>
                <a:sym typeface="Inter"/>
              </a:rPr>
              <a:t>Output Layer:</a:t>
            </a:r>
            <a:r>
              <a:rPr b="0" i="0" lang="en-US" sz="1800" u="none" cap="none" strike="noStrike">
                <a:solidFill>
                  <a:srgbClr val="CBD5E1"/>
                </a:solidFill>
                <a:latin typeface="Inter"/>
                <a:ea typeface="Inter"/>
                <a:cs typeface="Inter"/>
                <a:sym typeface="Inter"/>
              </a:rPr>
              <a:t> Dense(1) (Continuous)</a:t>
            </a:r>
            <a:endParaRPr/>
          </a:p>
        </p:txBody>
      </p:sp>
      <p:pic>
        <p:nvPicPr>
          <p:cNvPr descr="image.png" id="137" name="Google Shape;137;p16"/>
          <p:cNvPicPr preferRelativeResize="0"/>
          <p:nvPr/>
        </p:nvPicPr>
        <p:blipFill rotWithShape="1">
          <a:blip r:embed="rId6">
            <a:alphaModFix/>
          </a:blip>
          <a:srcRect b="0" l="0" r="0" t="0"/>
          <a:stretch/>
        </p:blipFill>
        <p:spPr>
          <a:xfrm>
            <a:off x="952500" y="3381226"/>
            <a:ext cx="266700" cy="266700"/>
          </a:xfrm>
          <a:prstGeom prst="rect">
            <a:avLst/>
          </a:prstGeom>
          <a:noFill/>
          <a:ln>
            <a:noFill/>
          </a:ln>
        </p:spPr>
      </p:pic>
      <p:pic>
        <p:nvPicPr>
          <p:cNvPr descr="image.png" id="138" name="Google Shape;138;p16"/>
          <p:cNvPicPr preferRelativeResize="0"/>
          <p:nvPr/>
        </p:nvPicPr>
        <p:blipFill rotWithShape="1">
          <a:blip r:embed="rId7">
            <a:alphaModFix/>
          </a:blip>
          <a:srcRect b="0" l="0" r="0" t="0"/>
          <a:stretch/>
        </p:blipFill>
        <p:spPr>
          <a:xfrm>
            <a:off x="952500" y="3985021"/>
            <a:ext cx="304800" cy="266700"/>
          </a:xfrm>
          <a:prstGeom prst="rect">
            <a:avLst/>
          </a:prstGeom>
          <a:noFill/>
          <a:ln>
            <a:noFill/>
          </a:ln>
        </p:spPr>
      </p:pic>
      <p:pic>
        <p:nvPicPr>
          <p:cNvPr descr="image.png" id="139" name="Google Shape;139;p16"/>
          <p:cNvPicPr preferRelativeResize="0"/>
          <p:nvPr/>
        </p:nvPicPr>
        <p:blipFill rotWithShape="1">
          <a:blip r:embed="rId8">
            <a:alphaModFix/>
          </a:blip>
          <a:srcRect b="0" l="0" r="0" t="0"/>
          <a:stretch/>
        </p:blipFill>
        <p:spPr>
          <a:xfrm>
            <a:off x="952500" y="4588817"/>
            <a:ext cx="304800" cy="266700"/>
          </a:xfrm>
          <a:prstGeom prst="rect">
            <a:avLst/>
          </a:prstGeom>
          <a:noFill/>
          <a:ln>
            <a:noFill/>
          </a:ln>
        </p:spPr>
      </p:pic>
      <p:pic>
        <p:nvPicPr>
          <p:cNvPr descr="image.png" id="140" name="Google Shape;140;p16"/>
          <p:cNvPicPr preferRelativeResize="0"/>
          <p:nvPr/>
        </p:nvPicPr>
        <p:blipFill rotWithShape="1">
          <a:blip r:embed="rId9">
            <a:alphaModFix/>
          </a:blip>
          <a:srcRect b="0" l="0" r="0" t="0"/>
          <a:stretch/>
        </p:blipFill>
        <p:spPr>
          <a:xfrm>
            <a:off x="952500" y="5192613"/>
            <a:ext cx="266700" cy="266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descr="image.png" id="145" name="Google Shape;145;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6" name="Google Shape;146;p17"/>
          <p:cNvPicPr preferRelativeResize="0"/>
          <p:nvPr/>
        </p:nvPicPr>
        <p:blipFill rotWithShape="1">
          <a:blip r:embed="rId4">
            <a:alphaModFix/>
          </a:blip>
          <a:srcRect b="0" l="0" r="0" t="0"/>
          <a:stretch/>
        </p:blipFill>
        <p:spPr>
          <a:xfrm>
            <a:off x="571500" y="2117675"/>
            <a:ext cx="3555950" cy="2015430"/>
          </a:xfrm>
          <a:prstGeom prst="rect">
            <a:avLst/>
          </a:prstGeom>
          <a:noFill/>
          <a:ln>
            <a:noFill/>
          </a:ln>
        </p:spPr>
      </p:pic>
      <p:pic>
        <p:nvPicPr>
          <p:cNvPr descr="image.png" id="147" name="Google Shape;147;p17"/>
          <p:cNvPicPr preferRelativeResize="0"/>
          <p:nvPr/>
        </p:nvPicPr>
        <p:blipFill rotWithShape="1">
          <a:blip r:embed="rId5">
            <a:alphaModFix/>
          </a:blip>
          <a:srcRect b="0" l="0" r="0" t="0"/>
          <a:stretch/>
        </p:blipFill>
        <p:spPr>
          <a:xfrm>
            <a:off x="4317950" y="2117675"/>
            <a:ext cx="3555950" cy="2015430"/>
          </a:xfrm>
          <a:prstGeom prst="rect">
            <a:avLst/>
          </a:prstGeom>
          <a:noFill/>
          <a:ln>
            <a:noFill/>
          </a:ln>
        </p:spPr>
      </p:pic>
      <p:pic>
        <p:nvPicPr>
          <p:cNvPr descr="image.png" id="148" name="Google Shape;148;p17"/>
          <p:cNvPicPr preferRelativeResize="0"/>
          <p:nvPr/>
        </p:nvPicPr>
        <p:blipFill rotWithShape="1">
          <a:blip r:embed="rId6">
            <a:alphaModFix/>
          </a:blip>
          <a:srcRect b="0" l="0" r="0" t="0"/>
          <a:stretch/>
        </p:blipFill>
        <p:spPr>
          <a:xfrm>
            <a:off x="8064400" y="2117675"/>
            <a:ext cx="3556099" cy="2015430"/>
          </a:xfrm>
          <a:prstGeom prst="rect">
            <a:avLst/>
          </a:prstGeom>
          <a:noFill/>
          <a:ln>
            <a:noFill/>
          </a:ln>
        </p:spPr>
      </p:pic>
      <p:pic>
        <p:nvPicPr>
          <p:cNvPr descr="image.png" id="149" name="Google Shape;149;p17"/>
          <p:cNvPicPr preferRelativeResize="0"/>
          <p:nvPr/>
        </p:nvPicPr>
        <p:blipFill rotWithShape="1">
          <a:blip r:embed="rId7">
            <a:alphaModFix/>
          </a:blip>
          <a:srcRect b="0" l="0" r="0" t="0"/>
          <a:stretch/>
        </p:blipFill>
        <p:spPr>
          <a:xfrm>
            <a:off x="571500" y="4323605"/>
            <a:ext cx="3555950" cy="2015430"/>
          </a:xfrm>
          <a:prstGeom prst="rect">
            <a:avLst/>
          </a:prstGeom>
          <a:noFill/>
          <a:ln>
            <a:noFill/>
          </a:ln>
        </p:spPr>
      </p:pic>
      <p:pic>
        <p:nvPicPr>
          <p:cNvPr descr="image.png" id="150" name="Google Shape;150;p17"/>
          <p:cNvPicPr preferRelativeResize="0"/>
          <p:nvPr/>
        </p:nvPicPr>
        <p:blipFill rotWithShape="1">
          <a:blip r:embed="rId8">
            <a:alphaModFix/>
          </a:blip>
          <a:srcRect b="0" l="0" r="0" t="0"/>
          <a:stretch/>
        </p:blipFill>
        <p:spPr>
          <a:xfrm>
            <a:off x="4317950" y="4323605"/>
            <a:ext cx="3555950" cy="2015430"/>
          </a:xfrm>
          <a:prstGeom prst="rect">
            <a:avLst/>
          </a:prstGeom>
          <a:noFill/>
          <a:ln>
            <a:noFill/>
          </a:ln>
        </p:spPr>
      </p:pic>
      <p:pic>
        <p:nvPicPr>
          <p:cNvPr descr="image.png" id="151" name="Google Shape;151;p17"/>
          <p:cNvPicPr preferRelativeResize="0"/>
          <p:nvPr/>
        </p:nvPicPr>
        <p:blipFill rotWithShape="1">
          <a:blip r:embed="rId9">
            <a:alphaModFix/>
          </a:blip>
          <a:srcRect b="0" l="0" r="0" t="0"/>
          <a:stretch/>
        </p:blipFill>
        <p:spPr>
          <a:xfrm>
            <a:off x="8064400" y="4323605"/>
            <a:ext cx="3556099" cy="2015430"/>
          </a:xfrm>
          <a:prstGeom prst="rect">
            <a:avLst/>
          </a:prstGeom>
          <a:noFill/>
          <a:ln>
            <a:noFill/>
          </a:ln>
        </p:spPr>
      </p:pic>
      <p:sp>
        <p:nvSpPr>
          <p:cNvPr id="152" name="Google Shape;152;p17"/>
          <p:cNvSpPr txBox="1"/>
          <p:nvPr/>
        </p:nvSpPr>
        <p:spPr>
          <a:xfrm>
            <a:off x="571500" y="898475"/>
            <a:ext cx="11601450"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Oswald"/>
                <a:ea typeface="Oswald"/>
                <a:cs typeface="Oswald"/>
                <a:sym typeface="Oswald"/>
              </a:rPr>
              <a:t>TECHNOLOGY STACK</a:t>
            </a:r>
            <a:endParaRPr/>
          </a:p>
        </p:txBody>
      </p:sp>
      <p:sp>
        <p:nvSpPr>
          <p:cNvPr id="153" name="Google Shape;153;p17"/>
          <p:cNvSpPr/>
          <p:nvPr/>
        </p:nvSpPr>
        <p:spPr>
          <a:xfrm>
            <a:off x="571500" y="1717625"/>
            <a:ext cx="11049000" cy="19050"/>
          </a:xfrm>
          <a:prstGeom prst="rect">
            <a:avLst/>
          </a:prstGeom>
          <a:solidFill>
            <a:srgbClr val="FACC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7"/>
          <p:cNvSpPr txBox="1"/>
          <p:nvPr/>
        </p:nvSpPr>
        <p:spPr>
          <a:xfrm>
            <a:off x="1394281" y="3213050"/>
            <a:ext cx="1910238"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Oswald"/>
                <a:ea typeface="Oswald"/>
                <a:cs typeface="Oswald"/>
                <a:sym typeface="Oswald"/>
              </a:rPr>
              <a:t>PYTHON / TF / KERAS</a:t>
            </a:r>
            <a:endParaRPr/>
          </a:p>
        </p:txBody>
      </p:sp>
      <p:sp>
        <p:nvSpPr>
          <p:cNvPr id="155" name="Google Shape;155;p17"/>
          <p:cNvSpPr txBox="1"/>
          <p:nvPr/>
        </p:nvSpPr>
        <p:spPr>
          <a:xfrm>
            <a:off x="1425475" y="3594050"/>
            <a:ext cx="18478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Model training &amp; creation.</a:t>
            </a:r>
            <a:endParaRPr/>
          </a:p>
        </p:txBody>
      </p:sp>
      <p:sp>
        <p:nvSpPr>
          <p:cNvPr id="156" name="Google Shape;156;p17"/>
          <p:cNvSpPr txBox="1"/>
          <p:nvPr/>
        </p:nvSpPr>
        <p:spPr>
          <a:xfrm>
            <a:off x="5810815" y="3213050"/>
            <a:ext cx="570071"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Oswald"/>
                <a:ea typeface="Oswald"/>
                <a:cs typeface="Oswald"/>
                <a:sym typeface="Oswald"/>
              </a:rPr>
              <a:t>TFLITE</a:t>
            </a:r>
            <a:endParaRPr/>
          </a:p>
        </p:txBody>
      </p:sp>
      <p:sp>
        <p:nvSpPr>
          <p:cNvPr id="157" name="Google Shape;157;p17"/>
          <p:cNvSpPr txBox="1"/>
          <p:nvPr/>
        </p:nvSpPr>
        <p:spPr>
          <a:xfrm>
            <a:off x="5195738" y="3594050"/>
            <a:ext cx="1800225"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Optimized model format.</a:t>
            </a:r>
            <a:endParaRPr/>
          </a:p>
        </p:txBody>
      </p:sp>
      <p:sp>
        <p:nvSpPr>
          <p:cNvPr id="158" name="Google Shape;158;p17"/>
          <p:cNvSpPr txBox="1"/>
          <p:nvPr/>
        </p:nvSpPr>
        <p:spPr>
          <a:xfrm>
            <a:off x="9132361" y="3235821"/>
            <a:ext cx="1420177"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Oswald"/>
                <a:ea typeface="Oswald"/>
                <a:cs typeface="Oswald"/>
                <a:sym typeface="Oswald"/>
              </a:rPr>
              <a:t>OPENMETEO API</a:t>
            </a:r>
            <a:endParaRPr/>
          </a:p>
        </p:txBody>
      </p:sp>
      <p:sp>
        <p:nvSpPr>
          <p:cNvPr id="159" name="Google Shape;159;p17"/>
          <p:cNvSpPr txBox="1"/>
          <p:nvPr/>
        </p:nvSpPr>
        <p:spPr>
          <a:xfrm>
            <a:off x="8880425" y="3616821"/>
            <a:ext cx="1924050" cy="1980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api.open-meteo.com/v1/forecast</a:t>
            </a:r>
            <a:endParaRPr/>
          </a:p>
        </p:txBody>
      </p:sp>
      <p:sp>
        <p:nvSpPr>
          <p:cNvPr id="160" name="Google Shape;160;p17"/>
          <p:cNvSpPr txBox="1"/>
          <p:nvPr/>
        </p:nvSpPr>
        <p:spPr>
          <a:xfrm>
            <a:off x="1929348" y="5418980"/>
            <a:ext cx="840105"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Oswald"/>
                <a:ea typeface="Oswald"/>
                <a:cs typeface="Oswald"/>
                <a:sym typeface="Oswald"/>
              </a:rPr>
              <a:t>CHART.JS</a:t>
            </a:r>
            <a:endParaRPr/>
          </a:p>
        </p:txBody>
      </p:sp>
      <p:sp>
        <p:nvSpPr>
          <p:cNvPr id="161" name="Google Shape;161;p17"/>
          <p:cNvSpPr txBox="1"/>
          <p:nvPr/>
        </p:nvSpPr>
        <p:spPr>
          <a:xfrm>
            <a:off x="958750" y="5799980"/>
            <a:ext cx="278130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Interactive 24-hour prediction plotting.</a:t>
            </a:r>
            <a:endParaRPr/>
          </a:p>
        </p:txBody>
      </p:sp>
      <p:sp>
        <p:nvSpPr>
          <p:cNvPr id="162" name="Google Shape;162;p17"/>
          <p:cNvSpPr txBox="1"/>
          <p:nvPr/>
        </p:nvSpPr>
        <p:spPr>
          <a:xfrm>
            <a:off x="5435768" y="5418980"/>
            <a:ext cx="1320165"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Oswald"/>
                <a:ea typeface="Oswald"/>
                <a:cs typeface="Oswald"/>
                <a:sym typeface="Oswald"/>
              </a:rPr>
              <a:t>GITHUB PAGES</a:t>
            </a:r>
            <a:endParaRPr/>
          </a:p>
        </p:txBody>
      </p:sp>
      <p:sp>
        <p:nvSpPr>
          <p:cNvPr id="163" name="Google Shape;163;p17"/>
          <p:cNvSpPr txBox="1"/>
          <p:nvPr/>
        </p:nvSpPr>
        <p:spPr>
          <a:xfrm>
            <a:off x="5281463" y="5799980"/>
            <a:ext cx="1628775"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Static hosting solution.</a:t>
            </a:r>
            <a:endParaRPr/>
          </a:p>
        </p:txBody>
      </p:sp>
      <p:sp>
        <p:nvSpPr>
          <p:cNvPr id="164" name="Google Shape;164;p17"/>
          <p:cNvSpPr txBox="1"/>
          <p:nvPr/>
        </p:nvSpPr>
        <p:spPr>
          <a:xfrm>
            <a:off x="9197369" y="5418980"/>
            <a:ext cx="1290161" cy="2857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Oswald"/>
                <a:ea typeface="Oswald"/>
                <a:cs typeface="Oswald"/>
                <a:sym typeface="Oswald"/>
              </a:rPr>
              <a:t>WEBASSEMBLY</a:t>
            </a:r>
            <a:endParaRPr/>
          </a:p>
        </p:txBody>
      </p:sp>
      <p:sp>
        <p:nvSpPr>
          <p:cNvPr id="165" name="Google Shape;165;p17"/>
          <p:cNvSpPr txBox="1"/>
          <p:nvPr/>
        </p:nvSpPr>
        <p:spPr>
          <a:xfrm>
            <a:off x="8813750" y="5799980"/>
            <a:ext cx="205740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Client-side model execution.</a:t>
            </a:r>
            <a:endParaRPr/>
          </a:p>
        </p:txBody>
      </p:sp>
      <p:pic>
        <p:nvPicPr>
          <p:cNvPr descr="image.png" id="166" name="Google Shape;166;p17"/>
          <p:cNvPicPr preferRelativeResize="0"/>
          <p:nvPr/>
        </p:nvPicPr>
        <p:blipFill rotWithShape="1">
          <a:blip r:embed="rId10">
            <a:alphaModFix/>
          </a:blip>
          <a:srcRect b="0" l="0" r="0" t="0"/>
          <a:stretch/>
        </p:blipFill>
        <p:spPr>
          <a:xfrm>
            <a:off x="2182713" y="2451050"/>
            <a:ext cx="333375" cy="381000"/>
          </a:xfrm>
          <a:prstGeom prst="rect">
            <a:avLst/>
          </a:prstGeom>
          <a:noFill/>
          <a:ln>
            <a:noFill/>
          </a:ln>
        </p:spPr>
      </p:pic>
      <p:pic>
        <p:nvPicPr>
          <p:cNvPr descr="image.png" id="167" name="Google Shape;167;p17"/>
          <p:cNvPicPr preferRelativeResize="0"/>
          <p:nvPr/>
        </p:nvPicPr>
        <p:blipFill rotWithShape="1">
          <a:blip r:embed="rId11">
            <a:alphaModFix/>
          </a:blip>
          <a:srcRect b="0" l="0" r="0" t="0"/>
          <a:stretch/>
        </p:blipFill>
        <p:spPr>
          <a:xfrm>
            <a:off x="5905351" y="2451050"/>
            <a:ext cx="381000" cy="381000"/>
          </a:xfrm>
          <a:prstGeom prst="rect">
            <a:avLst/>
          </a:prstGeom>
          <a:noFill/>
          <a:ln>
            <a:noFill/>
          </a:ln>
        </p:spPr>
      </p:pic>
      <p:pic>
        <p:nvPicPr>
          <p:cNvPr descr="image.png" id="168" name="Google Shape;168;p17"/>
          <p:cNvPicPr preferRelativeResize="0"/>
          <p:nvPr/>
        </p:nvPicPr>
        <p:blipFill rotWithShape="1">
          <a:blip r:embed="rId12">
            <a:alphaModFix/>
          </a:blip>
          <a:srcRect b="0" l="0" r="0" t="0"/>
          <a:stretch/>
        </p:blipFill>
        <p:spPr>
          <a:xfrm>
            <a:off x="9651950" y="2473821"/>
            <a:ext cx="381000" cy="381000"/>
          </a:xfrm>
          <a:prstGeom prst="rect">
            <a:avLst/>
          </a:prstGeom>
          <a:noFill/>
          <a:ln>
            <a:noFill/>
          </a:ln>
        </p:spPr>
      </p:pic>
      <p:pic>
        <p:nvPicPr>
          <p:cNvPr descr="image.png" id="169" name="Google Shape;169;p17"/>
          <p:cNvPicPr preferRelativeResize="0"/>
          <p:nvPr/>
        </p:nvPicPr>
        <p:blipFill rotWithShape="1">
          <a:blip r:embed="rId13">
            <a:alphaModFix/>
          </a:blip>
          <a:srcRect b="0" l="0" r="0" t="0"/>
          <a:stretch/>
        </p:blipFill>
        <p:spPr>
          <a:xfrm>
            <a:off x="5910113" y="4656980"/>
            <a:ext cx="371475" cy="381000"/>
          </a:xfrm>
          <a:prstGeom prst="rect">
            <a:avLst/>
          </a:prstGeom>
          <a:noFill/>
          <a:ln>
            <a:noFill/>
          </a:ln>
        </p:spPr>
      </p:pic>
      <p:pic>
        <p:nvPicPr>
          <p:cNvPr descr="image.png" id="170" name="Google Shape;170;p17"/>
          <p:cNvPicPr preferRelativeResize="0"/>
          <p:nvPr/>
        </p:nvPicPr>
        <p:blipFill rotWithShape="1">
          <a:blip r:embed="rId14">
            <a:alphaModFix/>
          </a:blip>
          <a:srcRect b="0" l="0" r="0" t="0"/>
          <a:stretch/>
        </p:blipFill>
        <p:spPr>
          <a:xfrm>
            <a:off x="9675762" y="4656980"/>
            <a:ext cx="333375" cy="381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image.png" id="175" name="Google Shape;175;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6" name="Google Shape;176;p18"/>
          <p:cNvPicPr preferRelativeResize="0"/>
          <p:nvPr/>
        </p:nvPicPr>
        <p:blipFill rotWithShape="1">
          <a:blip r:embed="rId4">
            <a:alphaModFix/>
          </a:blip>
          <a:srcRect b="0" l="0" r="0" t="0"/>
          <a:stretch/>
        </p:blipFill>
        <p:spPr>
          <a:xfrm>
            <a:off x="2781300" y="4462611"/>
            <a:ext cx="6629400" cy="1905000"/>
          </a:xfrm>
          <a:prstGeom prst="rect">
            <a:avLst/>
          </a:prstGeom>
          <a:noFill/>
          <a:ln>
            <a:noFill/>
          </a:ln>
        </p:spPr>
      </p:pic>
      <p:sp>
        <p:nvSpPr>
          <p:cNvPr id="177" name="Google Shape;177;p18"/>
          <p:cNvSpPr txBox="1"/>
          <p:nvPr/>
        </p:nvSpPr>
        <p:spPr>
          <a:xfrm>
            <a:off x="571500" y="869900"/>
            <a:ext cx="11601450"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Oswald"/>
                <a:ea typeface="Oswald"/>
                <a:cs typeface="Oswald"/>
                <a:sym typeface="Oswald"/>
              </a:rPr>
              <a:t>EDGE IMPULSE (BYOM) WORKFLOW</a:t>
            </a:r>
            <a:endParaRPr/>
          </a:p>
        </p:txBody>
      </p:sp>
      <p:sp>
        <p:nvSpPr>
          <p:cNvPr id="178" name="Google Shape;178;p18"/>
          <p:cNvSpPr/>
          <p:nvPr/>
        </p:nvSpPr>
        <p:spPr>
          <a:xfrm>
            <a:off x="571500" y="1689050"/>
            <a:ext cx="11049000" cy="19050"/>
          </a:xfrm>
          <a:prstGeom prst="rect">
            <a:avLst/>
          </a:prstGeom>
          <a:solidFill>
            <a:srgbClr val="FACC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8"/>
          <p:cNvSpPr/>
          <p:nvPr/>
        </p:nvSpPr>
        <p:spPr>
          <a:xfrm>
            <a:off x="571500" y="2565350"/>
            <a:ext cx="11049000" cy="38100"/>
          </a:xfrm>
          <a:prstGeom prst="roundRect">
            <a:avLst>
              <a:gd fmla="val 16667" name="adj"/>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80" name="Google Shape;180;p18"/>
          <p:cNvPicPr preferRelativeResize="0"/>
          <p:nvPr/>
        </p:nvPicPr>
        <p:blipFill rotWithShape="1">
          <a:blip r:embed="rId5">
            <a:alphaModFix/>
          </a:blip>
          <a:srcRect b="0" l="0" r="0" t="0"/>
          <a:stretch/>
        </p:blipFill>
        <p:spPr>
          <a:xfrm>
            <a:off x="2781300" y="4462611"/>
            <a:ext cx="6629400" cy="1905000"/>
          </a:xfrm>
          <a:prstGeom prst="rect">
            <a:avLst/>
          </a:prstGeom>
          <a:noFill/>
          <a:ln>
            <a:noFill/>
          </a:ln>
        </p:spPr>
      </p:pic>
      <p:sp>
        <p:nvSpPr>
          <p:cNvPr id="181" name="Google Shape;181;p18"/>
          <p:cNvSpPr txBox="1"/>
          <p:nvPr/>
        </p:nvSpPr>
        <p:spPr>
          <a:xfrm>
            <a:off x="510733" y="2984450"/>
            <a:ext cx="2552193"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ACC15"/>
                </a:solidFill>
                <a:latin typeface="Oswald"/>
                <a:ea typeface="Oswald"/>
                <a:cs typeface="Oswald"/>
                <a:sym typeface="Oswald"/>
              </a:rPr>
              <a:t>UPLOAD</a:t>
            </a:r>
            <a:endParaRPr/>
          </a:p>
        </p:txBody>
      </p:sp>
      <p:sp>
        <p:nvSpPr>
          <p:cNvPr id="182" name="Google Shape;182;p18"/>
          <p:cNvSpPr txBox="1"/>
          <p:nvPr/>
        </p:nvSpPr>
        <p:spPr>
          <a:xfrm>
            <a:off x="571500" y="3441650"/>
            <a:ext cx="243066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Upload .tflite model via BYOM.</a:t>
            </a:r>
            <a:endParaRPr/>
          </a:p>
        </p:txBody>
      </p:sp>
      <p:sp>
        <p:nvSpPr>
          <p:cNvPr id="183" name="Google Shape;183;p18"/>
          <p:cNvSpPr txBox="1"/>
          <p:nvPr/>
        </p:nvSpPr>
        <p:spPr>
          <a:xfrm>
            <a:off x="3383413" y="2984450"/>
            <a:ext cx="2552193"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ACC15"/>
                </a:solidFill>
                <a:latin typeface="Oswald"/>
                <a:ea typeface="Oswald"/>
                <a:cs typeface="Oswald"/>
                <a:sym typeface="Oswald"/>
              </a:rPr>
              <a:t>CONFIGURE</a:t>
            </a:r>
            <a:endParaRPr/>
          </a:p>
        </p:txBody>
      </p:sp>
      <p:sp>
        <p:nvSpPr>
          <p:cNvPr id="184" name="Google Shape;184;p18"/>
          <p:cNvSpPr txBox="1"/>
          <p:nvPr/>
        </p:nvSpPr>
        <p:spPr>
          <a:xfrm>
            <a:off x="3444180" y="3441650"/>
            <a:ext cx="243066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Set output to </a:t>
            </a:r>
            <a:r>
              <a:rPr b="1" i="0" lang="en-US" sz="1200" u="none" cap="none" strike="noStrike">
                <a:solidFill>
                  <a:srgbClr val="CBD5E1"/>
                </a:solidFill>
                <a:latin typeface="Inter"/>
                <a:ea typeface="Inter"/>
                <a:cs typeface="Inter"/>
                <a:sym typeface="Inter"/>
              </a:rPr>
              <a:t>Regression</a:t>
            </a:r>
            <a:r>
              <a:rPr b="0" i="0" lang="en-US" sz="1200" u="none" cap="none" strike="noStrike">
                <a:solidFill>
                  <a:srgbClr val="CBD5E1"/>
                </a:solidFill>
                <a:latin typeface="Inter"/>
                <a:ea typeface="Inter"/>
                <a:cs typeface="Inter"/>
                <a:sym typeface="Inter"/>
              </a:rPr>
              <a:t>.</a:t>
            </a:r>
            <a:endParaRPr/>
          </a:p>
        </p:txBody>
      </p:sp>
      <p:sp>
        <p:nvSpPr>
          <p:cNvPr id="185" name="Google Shape;185;p18"/>
          <p:cNvSpPr txBox="1"/>
          <p:nvPr/>
        </p:nvSpPr>
        <p:spPr>
          <a:xfrm>
            <a:off x="6256094" y="2984450"/>
            <a:ext cx="2552193"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ACC15"/>
                </a:solidFill>
                <a:latin typeface="Oswald"/>
                <a:ea typeface="Oswald"/>
                <a:cs typeface="Oswald"/>
                <a:sym typeface="Oswald"/>
              </a:rPr>
              <a:t>VALIDATE</a:t>
            </a:r>
            <a:endParaRPr/>
          </a:p>
        </p:txBody>
      </p:sp>
      <p:sp>
        <p:nvSpPr>
          <p:cNvPr id="186" name="Google Shape;186;p18"/>
          <p:cNvSpPr txBox="1"/>
          <p:nvPr/>
        </p:nvSpPr>
        <p:spPr>
          <a:xfrm>
            <a:off x="6316860" y="3441650"/>
            <a:ext cx="243066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Automatic tensor shape validation.</a:t>
            </a:r>
            <a:endParaRPr/>
          </a:p>
        </p:txBody>
      </p:sp>
      <p:sp>
        <p:nvSpPr>
          <p:cNvPr id="187" name="Google Shape;187;p18"/>
          <p:cNvSpPr txBox="1"/>
          <p:nvPr/>
        </p:nvSpPr>
        <p:spPr>
          <a:xfrm>
            <a:off x="9128774" y="2984450"/>
            <a:ext cx="2552193" cy="30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FACC15"/>
                </a:solidFill>
                <a:latin typeface="Oswald"/>
                <a:ea typeface="Oswald"/>
                <a:cs typeface="Oswald"/>
                <a:sym typeface="Oswald"/>
              </a:rPr>
              <a:t>DEPLOY</a:t>
            </a:r>
            <a:endParaRPr/>
          </a:p>
        </p:txBody>
      </p:sp>
      <p:sp>
        <p:nvSpPr>
          <p:cNvPr id="188" name="Google Shape;188;p18"/>
          <p:cNvSpPr txBox="1"/>
          <p:nvPr/>
        </p:nvSpPr>
        <p:spPr>
          <a:xfrm>
            <a:off x="9189541" y="3441650"/>
            <a:ext cx="243066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Export as WebAssembly (WASM).</a:t>
            </a:r>
            <a:endParaRPr/>
          </a:p>
        </p:txBody>
      </p:sp>
      <p:sp>
        <p:nvSpPr>
          <p:cNvPr id="189" name="Google Shape;189;p18"/>
          <p:cNvSpPr/>
          <p:nvPr/>
        </p:nvSpPr>
        <p:spPr>
          <a:xfrm>
            <a:off x="1672530" y="3837830"/>
            <a:ext cx="228600" cy="228600"/>
          </a:xfrm>
          <a:prstGeom prst="roundRect">
            <a:avLst>
              <a:gd fmla="val 50000" name="adj"/>
            </a:avLst>
          </a:prstGeom>
          <a:solidFill>
            <a:srgbClr val="0F172A"/>
          </a:solidFill>
          <a:ln cap="flat" cmpd="sng" w="38100">
            <a:solidFill>
              <a:srgbClr val="FACC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18"/>
          <p:cNvSpPr/>
          <p:nvPr/>
        </p:nvSpPr>
        <p:spPr>
          <a:xfrm>
            <a:off x="4545210" y="3837830"/>
            <a:ext cx="228600" cy="228600"/>
          </a:xfrm>
          <a:prstGeom prst="roundRect">
            <a:avLst>
              <a:gd fmla="val 50000" name="adj"/>
            </a:avLst>
          </a:prstGeom>
          <a:solidFill>
            <a:srgbClr val="0F172A"/>
          </a:solidFill>
          <a:ln cap="flat" cmpd="sng" w="38100">
            <a:solidFill>
              <a:srgbClr val="FACC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8"/>
          <p:cNvSpPr/>
          <p:nvPr/>
        </p:nvSpPr>
        <p:spPr>
          <a:xfrm>
            <a:off x="7417891" y="4081611"/>
            <a:ext cx="228600" cy="228600"/>
          </a:xfrm>
          <a:prstGeom prst="roundRect">
            <a:avLst>
              <a:gd fmla="val 50000" name="adj"/>
            </a:avLst>
          </a:prstGeom>
          <a:solidFill>
            <a:srgbClr val="0F172A"/>
          </a:solidFill>
          <a:ln cap="flat" cmpd="sng" w="38100">
            <a:solidFill>
              <a:srgbClr val="FACC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8"/>
          <p:cNvSpPr/>
          <p:nvPr/>
        </p:nvSpPr>
        <p:spPr>
          <a:xfrm>
            <a:off x="10290571" y="3837830"/>
            <a:ext cx="228600" cy="228600"/>
          </a:xfrm>
          <a:prstGeom prst="roundRect">
            <a:avLst>
              <a:gd fmla="val 50000" name="adj"/>
            </a:avLst>
          </a:prstGeom>
          <a:solidFill>
            <a:srgbClr val="0F172A"/>
          </a:solidFill>
          <a:ln cap="flat" cmpd="sng" w="38100">
            <a:solidFill>
              <a:srgbClr val="FACC1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descr="image.png" id="197" name="Google Shape;197;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8" name="Google Shape;198;p19"/>
          <p:cNvSpPr txBox="1"/>
          <p:nvPr/>
        </p:nvSpPr>
        <p:spPr>
          <a:xfrm>
            <a:off x="571500" y="950862"/>
            <a:ext cx="5200650" cy="13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Oswald"/>
                <a:ea typeface="Oswald"/>
                <a:cs typeface="Oswald"/>
                <a:sym typeface="Oswald"/>
              </a:rPr>
              <a:t>WEBASSEMBLY INTEGRATION</a:t>
            </a:r>
            <a:endParaRPr/>
          </a:p>
        </p:txBody>
      </p:sp>
      <p:sp>
        <p:nvSpPr>
          <p:cNvPr id="199" name="Google Shape;199;p19"/>
          <p:cNvSpPr/>
          <p:nvPr/>
        </p:nvSpPr>
        <p:spPr>
          <a:xfrm>
            <a:off x="571500" y="2446287"/>
            <a:ext cx="4953000" cy="19050"/>
          </a:xfrm>
          <a:prstGeom prst="rect">
            <a:avLst/>
          </a:prstGeom>
          <a:solidFill>
            <a:srgbClr val="FACC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00" name="Google Shape;200;p19"/>
          <p:cNvPicPr preferRelativeResize="0"/>
          <p:nvPr/>
        </p:nvPicPr>
        <p:blipFill rotWithShape="1">
          <a:blip r:embed="rId4">
            <a:alphaModFix/>
          </a:blip>
          <a:srcRect b="0" l="0" r="0" t="0"/>
          <a:stretch/>
        </p:blipFill>
        <p:spPr>
          <a:xfrm>
            <a:off x="6096000" y="0"/>
            <a:ext cx="6096000" cy="6858000"/>
          </a:xfrm>
          <a:prstGeom prst="rect">
            <a:avLst/>
          </a:prstGeom>
          <a:noFill/>
          <a:ln>
            <a:noFill/>
          </a:ln>
        </p:spPr>
      </p:pic>
      <p:sp>
        <p:nvSpPr>
          <p:cNvPr id="201" name="Google Shape;201;p19"/>
          <p:cNvSpPr txBox="1"/>
          <p:nvPr/>
        </p:nvSpPr>
        <p:spPr>
          <a:xfrm>
            <a:off x="571500" y="3036837"/>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The WASM package enables the model to run entirely in the browser, ensuring low latency and data privacy.</a:t>
            </a:r>
            <a:endParaRPr/>
          </a:p>
        </p:txBody>
      </p:sp>
      <p:sp>
        <p:nvSpPr>
          <p:cNvPr id="202" name="Google Shape;202;p19"/>
          <p:cNvSpPr txBox="1"/>
          <p:nvPr/>
        </p:nvSpPr>
        <p:spPr>
          <a:xfrm>
            <a:off x="1428750" y="3989337"/>
            <a:ext cx="4095750"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Downloaded WASM ZIP from Edge Impulse.</a:t>
            </a:r>
            <a:endParaRPr/>
          </a:p>
        </p:txBody>
      </p:sp>
      <p:sp>
        <p:nvSpPr>
          <p:cNvPr id="203" name="Google Shape;203;p19"/>
          <p:cNvSpPr txBox="1"/>
          <p:nvPr/>
        </p:nvSpPr>
        <p:spPr>
          <a:xfrm>
            <a:off x="1428750" y="4958804"/>
            <a:ext cx="409575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Integrated into HTML/JS webpage.</a:t>
            </a:r>
            <a:endParaRPr/>
          </a:p>
        </p:txBody>
      </p:sp>
      <p:sp>
        <p:nvSpPr>
          <p:cNvPr id="204" name="Google Shape;204;p19"/>
          <p:cNvSpPr txBox="1"/>
          <p:nvPr/>
        </p:nvSpPr>
        <p:spPr>
          <a:xfrm>
            <a:off x="1428750" y="5562600"/>
            <a:ext cx="4095750"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Feeds live API data to model in-browser.</a:t>
            </a:r>
            <a:endParaRPr/>
          </a:p>
        </p:txBody>
      </p:sp>
      <p:sp>
        <p:nvSpPr>
          <p:cNvPr id="205" name="Google Shape;205;p19"/>
          <p:cNvSpPr txBox="1"/>
          <p:nvPr/>
        </p:nvSpPr>
        <p:spPr>
          <a:xfrm>
            <a:off x="1428750" y="6532066"/>
            <a:ext cx="4095750" cy="325933"/>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F8FAFC"/>
                </a:solidFill>
                <a:latin typeface="Inter"/>
                <a:ea typeface="Inter"/>
                <a:cs typeface="Inter"/>
                <a:sym typeface="Inter"/>
              </a:rPr>
              <a:t>Chart.js</a:t>
            </a:r>
            <a:r>
              <a:rPr b="0" i="0" lang="en-US" sz="1800" u="none" cap="none" strike="noStrike">
                <a:solidFill>
                  <a:srgbClr val="CBD5E1"/>
                </a:solidFill>
                <a:latin typeface="Inter"/>
                <a:ea typeface="Inter"/>
                <a:cs typeface="Inter"/>
                <a:sym typeface="Inter"/>
              </a:rPr>
              <a:t> visualizes the 24h forecast.</a:t>
            </a:r>
            <a:endParaRPr/>
          </a:p>
        </p:txBody>
      </p:sp>
      <p:pic>
        <p:nvPicPr>
          <p:cNvPr descr="image.png" id="206" name="Google Shape;206;p19"/>
          <p:cNvPicPr preferRelativeResize="0"/>
          <p:nvPr/>
        </p:nvPicPr>
        <p:blipFill rotWithShape="1">
          <a:blip r:embed="rId5">
            <a:alphaModFix/>
          </a:blip>
          <a:srcRect b="0" l="0" r="0" t="0"/>
          <a:stretch/>
        </p:blipFill>
        <p:spPr>
          <a:xfrm>
            <a:off x="952500" y="4036962"/>
            <a:ext cx="266700" cy="266700"/>
          </a:xfrm>
          <a:prstGeom prst="rect">
            <a:avLst/>
          </a:prstGeom>
          <a:noFill/>
          <a:ln>
            <a:noFill/>
          </a:ln>
        </p:spPr>
      </p:pic>
      <p:pic>
        <p:nvPicPr>
          <p:cNvPr descr="image.png" id="207" name="Google Shape;207;p19"/>
          <p:cNvPicPr preferRelativeResize="0"/>
          <p:nvPr/>
        </p:nvPicPr>
        <p:blipFill rotWithShape="1">
          <a:blip r:embed="rId6">
            <a:alphaModFix/>
          </a:blip>
          <a:srcRect b="0" l="0" r="0" t="0"/>
          <a:stretch/>
        </p:blipFill>
        <p:spPr>
          <a:xfrm>
            <a:off x="952500" y="5006429"/>
            <a:ext cx="333375" cy="266700"/>
          </a:xfrm>
          <a:prstGeom prst="rect">
            <a:avLst/>
          </a:prstGeom>
          <a:noFill/>
          <a:ln>
            <a:noFill/>
          </a:ln>
        </p:spPr>
      </p:pic>
      <p:pic>
        <p:nvPicPr>
          <p:cNvPr descr="image.png" id="208" name="Google Shape;208;p19"/>
          <p:cNvPicPr preferRelativeResize="0"/>
          <p:nvPr/>
        </p:nvPicPr>
        <p:blipFill rotWithShape="1">
          <a:blip r:embed="rId7">
            <a:alphaModFix/>
          </a:blip>
          <a:srcRect b="0" l="0" r="0" t="0"/>
          <a:stretch/>
        </p:blipFill>
        <p:spPr>
          <a:xfrm>
            <a:off x="952500" y="5610225"/>
            <a:ext cx="238125" cy="266700"/>
          </a:xfrm>
          <a:prstGeom prst="rect">
            <a:avLst/>
          </a:prstGeom>
          <a:noFill/>
          <a:ln>
            <a:noFill/>
          </a:ln>
        </p:spPr>
      </p:pic>
      <p:pic>
        <p:nvPicPr>
          <p:cNvPr descr="image.png" id="209" name="Google Shape;209;p19"/>
          <p:cNvPicPr preferRelativeResize="0"/>
          <p:nvPr/>
        </p:nvPicPr>
        <p:blipFill rotWithShape="1">
          <a:blip r:embed="rId8">
            <a:alphaModFix/>
          </a:blip>
          <a:srcRect b="0" l="0" r="0" t="0"/>
          <a:stretch/>
        </p:blipFill>
        <p:spPr>
          <a:xfrm>
            <a:off x="952500" y="6579691"/>
            <a:ext cx="266700" cy="266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descr="image.png" id="214" name="Google Shape;214;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5" name="Google Shape;215;p20"/>
          <p:cNvPicPr preferRelativeResize="0"/>
          <p:nvPr/>
        </p:nvPicPr>
        <p:blipFill rotWithShape="1">
          <a:blip r:embed="rId4">
            <a:alphaModFix/>
          </a:blip>
          <a:srcRect b="0" l="0" r="0" t="0"/>
          <a:stretch/>
        </p:blipFill>
        <p:spPr>
          <a:xfrm>
            <a:off x="571500" y="3093839"/>
            <a:ext cx="5238750" cy="2268735"/>
          </a:xfrm>
          <a:prstGeom prst="rect">
            <a:avLst/>
          </a:prstGeom>
          <a:noFill/>
          <a:ln>
            <a:noFill/>
          </a:ln>
        </p:spPr>
      </p:pic>
      <p:pic>
        <p:nvPicPr>
          <p:cNvPr descr="image.png" id="216" name="Google Shape;216;p20"/>
          <p:cNvPicPr preferRelativeResize="0"/>
          <p:nvPr/>
        </p:nvPicPr>
        <p:blipFill rotWithShape="1">
          <a:blip r:embed="rId5">
            <a:alphaModFix/>
          </a:blip>
          <a:srcRect b="0" l="0" r="0" t="0"/>
          <a:stretch/>
        </p:blipFill>
        <p:spPr>
          <a:xfrm>
            <a:off x="6381750" y="3093839"/>
            <a:ext cx="5238750" cy="2268735"/>
          </a:xfrm>
          <a:prstGeom prst="rect">
            <a:avLst/>
          </a:prstGeom>
          <a:noFill/>
          <a:ln>
            <a:noFill/>
          </a:ln>
        </p:spPr>
      </p:pic>
      <p:sp>
        <p:nvSpPr>
          <p:cNvPr id="217" name="Google Shape;217;p20"/>
          <p:cNvSpPr txBox="1"/>
          <p:nvPr/>
        </p:nvSpPr>
        <p:spPr>
          <a:xfrm>
            <a:off x="571500" y="950862"/>
            <a:ext cx="11601450"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Oswald"/>
                <a:ea typeface="Oswald"/>
                <a:cs typeface="Oswald"/>
                <a:sym typeface="Oswald"/>
              </a:rPr>
              <a:t>HOSTING &amp; ARCHITECTURE</a:t>
            </a:r>
            <a:endParaRPr/>
          </a:p>
        </p:txBody>
      </p:sp>
      <p:sp>
        <p:nvSpPr>
          <p:cNvPr id="218" name="Google Shape;218;p20"/>
          <p:cNvSpPr/>
          <p:nvPr/>
        </p:nvSpPr>
        <p:spPr>
          <a:xfrm>
            <a:off x="571500" y="1770012"/>
            <a:ext cx="11049000" cy="19050"/>
          </a:xfrm>
          <a:prstGeom prst="rect">
            <a:avLst/>
          </a:prstGeom>
          <a:solidFill>
            <a:srgbClr val="FACC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0"/>
          <p:cNvSpPr txBox="1"/>
          <p:nvPr/>
        </p:nvSpPr>
        <p:spPr>
          <a:xfrm>
            <a:off x="962025" y="3751064"/>
            <a:ext cx="4680585" cy="390525"/>
          </a:xfrm>
          <a:prstGeom prst="rect">
            <a:avLst/>
          </a:prstGeom>
          <a:noFill/>
          <a:ln>
            <a:noFill/>
          </a:ln>
        </p:spPr>
        <p:txBody>
          <a:bodyPr anchorCtr="0" anchor="t" bIns="0" lIns="266700" spcFirstLastPara="1" rIns="0" wrap="square" tIns="0">
            <a:spAutoFit/>
          </a:bodyPr>
          <a:lstStyle/>
          <a:p>
            <a:pPr indent="0" lvl="0" marL="0" marR="0" rtl="0" algn="l">
              <a:spcBef>
                <a:spcPts val="0"/>
              </a:spcBef>
              <a:spcAft>
                <a:spcPts val="0"/>
              </a:spcAft>
              <a:buNone/>
            </a:pPr>
            <a:r>
              <a:rPr b="1" i="0" lang="en-US" sz="2100" u="none" cap="none" strike="noStrike">
                <a:solidFill>
                  <a:srgbClr val="38BDF8"/>
                </a:solidFill>
                <a:latin typeface="Oswald"/>
                <a:ea typeface="Oswald"/>
                <a:cs typeface="Oswald"/>
                <a:sym typeface="Oswald"/>
              </a:rPr>
              <a:t> GITHUB PAGES</a:t>
            </a:r>
            <a:endParaRPr/>
          </a:p>
        </p:txBody>
      </p:sp>
      <p:sp>
        <p:nvSpPr>
          <p:cNvPr id="220" name="Google Shape;220;p20"/>
          <p:cNvSpPr txBox="1"/>
          <p:nvPr/>
        </p:nvSpPr>
        <p:spPr>
          <a:xfrm>
            <a:off x="962025" y="4332089"/>
            <a:ext cx="44577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Free, reliable static hosting. Eliminates the need for complex backend infrastructure or cloud compute costs.</a:t>
            </a:r>
            <a:endParaRPr/>
          </a:p>
        </p:txBody>
      </p:sp>
      <p:sp>
        <p:nvSpPr>
          <p:cNvPr id="221" name="Google Shape;221;p20"/>
          <p:cNvSpPr txBox="1"/>
          <p:nvPr/>
        </p:nvSpPr>
        <p:spPr>
          <a:xfrm>
            <a:off x="6772275" y="3751064"/>
            <a:ext cx="4680585" cy="390525"/>
          </a:xfrm>
          <a:prstGeom prst="rect">
            <a:avLst/>
          </a:prstGeom>
          <a:noFill/>
          <a:ln>
            <a:noFill/>
          </a:ln>
        </p:spPr>
        <p:txBody>
          <a:bodyPr anchorCtr="0" anchor="t" bIns="0" lIns="276225" spcFirstLastPara="1" rIns="0" wrap="square" tIns="0">
            <a:spAutoFit/>
          </a:bodyPr>
          <a:lstStyle/>
          <a:p>
            <a:pPr indent="0" lvl="0" marL="0" marR="0" rtl="0" algn="l">
              <a:spcBef>
                <a:spcPts val="0"/>
              </a:spcBef>
              <a:spcAft>
                <a:spcPts val="0"/>
              </a:spcAft>
              <a:buNone/>
            </a:pPr>
            <a:r>
              <a:rPr b="1" i="0" lang="en-US" sz="2100" u="none" cap="none" strike="noStrike">
                <a:solidFill>
                  <a:srgbClr val="38BDF8"/>
                </a:solidFill>
                <a:latin typeface="Oswald"/>
                <a:ea typeface="Oswald"/>
                <a:cs typeface="Oswald"/>
                <a:sym typeface="Oswald"/>
              </a:rPr>
              <a:t>CLIENT-SIDE EXECUTION</a:t>
            </a:r>
            <a:endParaRPr/>
          </a:p>
        </p:txBody>
      </p:sp>
      <p:sp>
        <p:nvSpPr>
          <p:cNvPr id="222" name="Google Shape;222;p20"/>
          <p:cNvSpPr txBox="1"/>
          <p:nvPr/>
        </p:nvSpPr>
        <p:spPr>
          <a:xfrm>
            <a:off x="6772275" y="4332089"/>
            <a:ext cx="4457700" cy="4875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The entire pipeline—from data fetching to inference and visualization—runs locally on the user's device.</a:t>
            </a:r>
            <a:endParaRPr/>
          </a:p>
        </p:txBody>
      </p:sp>
      <p:pic>
        <p:nvPicPr>
          <p:cNvPr descr="image.png" id="223" name="Google Shape;223;p20"/>
          <p:cNvPicPr preferRelativeResize="0"/>
          <p:nvPr/>
        </p:nvPicPr>
        <p:blipFill rotWithShape="1">
          <a:blip r:embed="rId6">
            <a:alphaModFix/>
          </a:blip>
          <a:srcRect b="0" l="0" r="0" t="0"/>
          <a:stretch/>
        </p:blipFill>
        <p:spPr>
          <a:xfrm>
            <a:off x="962025" y="3836789"/>
            <a:ext cx="266700" cy="266700"/>
          </a:xfrm>
          <a:prstGeom prst="rect">
            <a:avLst/>
          </a:prstGeom>
          <a:noFill/>
          <a:ln>
            <a:noFill/>
          </a:ln>
        </p:spPr>
      </p:pic>
      <p:pic>
        <p:nvPicPr>
          <p:cNvPr descr="image.png" id="224" name="Google Shape;224;p20"/>
          <p:cNvPicPr preferRelativeResize="0"/>
          <p:nvPr/>
        </p:nvPicPr>
        <p:blipFill rotWithShape="1">
          <a:blip r:embed="rId7">
            <a:alphaModFix/>
          </a:blip>
          <a:srcRect b="0" l="0" r="0" t="0"/>
          <a:stretch/>
        </p:blipFill>
        <p:spPr>
          <a:xfrm>
            <a:off x="6772275" y="3836789"/>
            <a:ext cx="276225" cy="266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descr="image.png" id="229" name="Google Shape;229;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0" name="Google Shape;230;p21"/>
          <p:cNvPicPr preferRelativeResize="0"/>
          <p:nvPr/>
        </p:nvPicPr>
        <p:blipFill rotWithShape="1">
          <a:blip r:embed="rId4">
            <a:alphaModFix/>
          </a:blip>
          <a:srcRect b="0" l="0" r="0" t="0"/>
          <a:stretch/>
        </p:blipFill>
        <p:spPr>
          <a:xfrm>
            <a:off x="1285875" y="2323207"/>
            <a:ext cx="3810000" cy="3810000"/>
          </a:xfrm>
          <a:prstGeom prst="rect">
            <a:avLst/>
          </a:prstGeom>
          <a:noFill/>
          <a:ln>
            <a:noFill/>
          </a:ln>
        </p:spPr>
      </p:pic>
      <p:sp>
        <p:nvSpPr>
          <p:cNvPr id="231" name="Google Shape;231;p21"/>
          <p:cNvSpPr txBox="1"/>
          <p:nvPr/>
        </p:nvSpPr>
        <p:spPr>
          <a:xfrm>
            <a:off x="571500" y="950862"/>
            <a:ext cx="11601450"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Oswald"/>
                <a:ea typeface="Oswald"/>
                <a:cs typeface="Oswald"/>
                <a:sym typeface="Oswald"/>
              </a:rPr>
              <a:t>LIVE DEMO</a:t>
            </a:r>
            <a:endParaRPr/>
          </a:p>
        </p:txBody>
      </p:sp>
      <p:sp>
        <p:nvSpPr>
          <p:cNvPr id="232" name="Google Shape;232;p21"/>
          <p:cNvSpPr/>
          <p:nvPr/>
        </p:nvSpPr>
        <p:spPr>
          <a:xfrm>
            <a:off x="571500" y="1770012"/>
            <a:ext cx="11049000" cy="19050"/>
          </a:xfrm>
          <a:prstGeom prst="rect">
            <a:avLst/>
          </a:prstGeom>
          <a:solidFill>
            <a:srgbClr val="FACC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33" name="Google Shape;233;p21"/>
          <p:cNvPicPr preferRelativeResize="0"/>
          <p:nvPr/>
        </p:nvPicPr>
        <p:blipFill rotWithShape="1">
          <a:blip r:embed="rId5">
            <a:alphaModFix/>
          </a:blip>
          <a:srcRect b="0" l="0" r="0" t="0"/>
          <a:stretch/>
        </p:blipFill>
        <p:spPr>
          <a:xfrm>
            <a:off x="1362075" y="2399407"/>
            <a:ext cx="3657600" cy="3657600"/>
          </a:xfrm>
          <a:prstGeom prst="rect">
            <a:avLst/>
          </a:prstGeom>
          <a:noFill/>
          <a:ln>
            <a:noFill/>
          </a:ln>
        </p:spPr>
      </p:pic>
      <p:sp>
        <p:nvSpPr>
          <p:cNvPr id="234" name="Google Shape;234;p21"/>
          <p:cNvSpPr txBox="1"/>
          <p:nvPr/>
        </p:nvSpPr>
        <p:spPr>
          <a:xfrm>
            <a:off x="6381750" y="2392560"/>
            <a:ext cx="5500687" cy="2571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FACC15"/>
                </a:solidFill>
                <a:latin typeface="Oswald"/>
                <a:ea typeface="Oswald"/>
                <a:cs typeface="Oswald"/>
                <a:sym typeface="Oswald"/>
              </a:rPr>
              <a:t>TRY THE WEB APP</a:t>
            </a:r>
            <a:endParaRPr/>
          </a:p>
        </p:txBody>
      </p:sp>
      <p:sp>
        <p:nvSpPr>
          <p:cNvPr id="235" name="Google Shape;235;p21"/>
          <p:cNvSpPr txBox="1"/>
          <p:nvPr/>
        </p:nvSpPr>
        <p:spPr>
          <a:xfrm>
            <a:off x="6381750" y="2840235"/>
            <a:ext cx="5238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Inter"/>
                <a:ea typeface="Inter"/>
                <a:cs typeface="Inter"/>
                <a:sym typeface="Inter"/>
              </a:rPr>
              <a:t>Experience the 24-hour solar power prediction live in your browser.</a:t>
            </a:r>
            <a:endParaRPr/>
          </a:p>
        </p:txBody>
      </p:sp>
      <p:pic>
        <p:nvPicPr>
          <p:cNvPr descr="image.png" id="236" name="Google Shape;236;p21"/>
          <p:cNvPicPr preferRelativeResize="0"/>
          <p:nvPr/>
        </p:nvPicPr>
        <p:blipFill rotWithShape="1">
          <a:blip r:embed="rId6">
            <a:alphaModFix/>
          </a:blip>
          <a:srcRect b="0" l="0" r="0" t="0"/>
          <a:stretch/>
        </p:blipFill>
        <p:spPr>
          <a:xfrm>
            <a:off x="6381750" y="3640335"/>
            <a:ext cx="5238750" cy="600075"/>
          </a:xfrm>
          <a:prstGeom prst="rect">
            <a:avLst/>
          </a:prstGeom>
          <a:noFill/>
          <a:ln>
            <a:noFill/>
          </a:ln>
        </p:spPr>
      </p:pic>
      <p:sp>
        <p:nvSpPr>
          <p:cNvPr id="237" name="Google Shape;237;p21"/>
          <p:cNvSpPr txBox="1"/>
          <p:nvPr/>
        </p:nvSpPr>
        <p:spPr>
          <a:xfrm>
            <a:off x="6862762" y="3840360"/>
            <a:ext cx="4276725" cy="200025"/>
          </a:xfrm>
          <a:prstGeom prst="rect">
            <a:avLst/>
          </a:prstGeom>
          <a:noFill/>
          <a:ln>
            <a:noFill/>
          </a:ln>
        </p:spPr>
        <p:txBody>
          <a:bodyPr anchorCtr="0" anchor="t" bIns="0" lIns="219075" spcFirstLastPara="1" rIns="0" wrap="square" tIns="0">
            <a:spAutoFit/>
          </a:bodyPr>
          <a:lstStyle/>
          <a:p>
            <a:pPr indent="0" lvl="0" marL="0" marR="0" rtl="0" algn="ctr">
              <a:spcBef>
                <a:spcPts val="0"/>
              </a:spcBef>
              <a:spcAft>
                <a:spcPts val="0"/>
              </a:spcAft>
              <a:buNone/>
            </a:pPr>
            <a:r>
              <a:rPr b="0" i="0" lang="en-US" sz="1350" u="none" cap="none" strike="noStrike">
                <a:solidFill>
                  <a:srgbClr val="38BDF8"/>
                </a:solidFill>
                <a:latin typeface="Inter"/>
                <a:ea typeface="Inter"/>
                <a:cs typeface="Inter"/>
                <a:sym typeface="Inter"/>
              </a:rPr>
              <a:t>yashsolanki1166.github.io/Solar_power_predictor/</a:t>
            </a:r>
            <a:endParaRPr/>
          </a:p>
        </p:txBody>
      </p:sp>
      <p:sp>
        <p:nvSpPr>
          <p:cNvPr id="238" name="Google Shape;238;p21"/>
          <p:cNvSpPr txBox="1"/>
          <p:nvPr/>
        </p:nvSpPr>
        <p:spPr>
          <a:xfrm>
            <a:off x="7239000" y="4430910"/>
            <a:ext cx="438150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Live Weather API Integration</a:t>
            </a:r>
            <a:endParaRPr/>
          </a:p>
        </p:txBody>
      </p:sp>
      <p:sp>
        <p:nvSpPr>
          <p:cNvPr id="239" name="Google Shape;239;p21"/>
          <p:cNvSpPr txBox="1"/>
          <p:nvPr/>
        </p:nvSpPr>
        <p:spPr>
          <a:xfrm>
            <a:off x="7239000" y="5034706"/>
            <a:ext cx="438150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Real-time Inference</a:t>
            </a:r>
            <a:endParaRPr/>
          </a:p>
        </p:txBody>
      </p:sp>
      <p:sp>
        <p:nvSpPr>
          <p:cNvPr id="240" name="Google Shape;240;p21"/>
          <p:cNvSpPr txBox="1"/>
          <p:nvPr/>
        </p:nvSpPr>
        <p:spPr>
          <a:xfrm>
            <a:off x="7239000" y="5638502"/>
            <a:ext cx="4381500" cy="36567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Interactive Charts</a:t>
            </a:r>
            <a:endParaRPr/>
          </a:p>
        </p:txBody>
      </p:sp>
      <p:pic>
        <p:nvPicPr>
          <p:cNvPr descr="image.png" id="241" name="Google Shape;241;p21"/>
          <p:cNvPicPr preferRelativeResize="0"/>
          <p:nvPr/>
        </p:nvPicPr>
        <p:blipFill rotWithShape="1">
          <a:blip r:embed="rId7">
            <a:alphaModFix/>
          </a:blip>
          <a:srcRect b="0" l="0" r="0" t="0"/>
          <a:stretch/>
        </p:blipFill>
        <p:spPr>
          <a:xfrm>
            <a:off x="6862762" y="3859410"/>
            <a:ext cx="219075" cy="171450"/>
          </a:xfrm>
          <a:prstGeom prst="rect">
            <a:avLst/>
          </a:prstGeom>
          <a:noFill/>
          <a:ln>
            <a:noFill/>
          </a:ln>
        </p:spPr>
      </p:pic>
      <p:pic>
        <p:nvPicPr>
          <p:cNvPr descr="image.png" id="242" name="Google Shape;242;p21"/>
          <p:cNvPicPr preferRelativeResize="0"/>
          <p:nvPr/>
        </p:nvPicPr>
        <p:blipFill rotWithShape="1">
          <a:blip r:embed="rId8">
            <a:alphaModFix/>
          </a:blip>
          <a:srcRect b="0" l="0" r="0" t="0"/>
          <a:stretch/>
        </p:blipFill>
        <p:spPr>
          <a:xfrm>
            <a:off x="6762750" y="4478535"/>
            <a:ext cx="238125" cy="266700"/>
          </a:xfrm>
          <a:prstGeom prst="rect">
            <a:avLst/>
          </a:prstGeom>
          <a:noFill/>
          <a:ln>
            <a:noFill/>
          </a:ln>
        </p:spPr>
      </p:pic>
      <p:pic>
        <p:nvPicPr>
          <p:cNvPr descr="image.png" id="243" name="Google Shape;243;p21"/>
          <p:cNvPicPr preferRelativeResize="0"/>
          <p:nvPr/>
        </p:nvPicPr>
        <p:blipFill rotWithShape="1">
          <a:blip r:embed="rId9">
            <a:alphaModFix/>
          </a:blip>
          <a:srcRect b="0" l="0" r="0" t="0"/>
          <a:stretch/>
        </p:blipFill>
        <p:spPr>
          <a:xfrm>
            <a:off x="6762750" y="5082331"/>
            <a:ext cx="238125" cy="266700"/>
          </a:xfrm>
          <a:prstGeom prst="rect">
            <a:avLst/>
          </a:prstGeom>
          <a:noFill/>
          <a:ln>
            <a:noFill/>
          </a:ln>
        </p:spPr>
      </p:pic>
      <p:pic>
        <p:nvPicPr>
          <p:cNvPr descr="image.png" id="244" name="Google Shape;244;p21"/>
          <p:cNvPicPr preferRelativeResize="0"/>
          <p:nvPr/>
        </p:nvPicPr>
        <p:blipFill rotWithShape="1">
          <a:blip r:embed="rId9">
            <a:alphaModFix/>
          </a:blip>
          <a:srcRect b="0" l="0" r="0" t="0"/>
          <a:stretch/>
        </p:blipFill>
        <p:spPr>
          <a:xfrm>
            <a:off x="6762750" y="5686127"/>
            <a:ext cx="238125" cy="266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pic>
        <p:nvPicPr>
          <p:cNvPr descr="image.png" id="249" name="Google Shape;249;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0" name="Google Shape;250;p22"/>
          <p:cNvSpPr/>
          <p:nvPr/>
        </p:nvSpPr>
        <p:spPr>
          <a:xfrm>
            <a:off x="5381625" y="1574155"/>
            <a:ext cx="1428750" cy="571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22"/>
          <p:cNvSpPr txBox="1"/>
          <p:nvPr/>
        </p:nvSpPr>
        <p:spPr>
          <a:xfrm>
            <a:off x="1595437" y="2073919"/>
            <a:ext cx="9001125" cy="7905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200" u="none" cap="none" strike="noStrike">
                <a:solidFill>
                  <a:srgbClr val="F8FAFC"/>
                </a:solidFill>
                <a:latin typeface="Oswald"/>
                <a:ea typeface="Oswald"/>
                <a:cs typeface="Oswald"/>
                <a:sym typeface="Oswald"/>
              </a:rPr>
              <a:t>PROJECT SUMMARY</a:t>
            </a:r>
            <a:endParaRPr/>
          </a:p>
        </p:txBody>
      </p:sp>
      <p:sp>
        <p:nvSpPr>
          <p:cNvPr id="252" name="Google Shape;252;p22"/>
          <p:cNvSpPr txBox="1"/>
          <p:nvPr/>
        </p:nvSpPr>
        <p:spPr>
          <a:xfrm>
            <a:off x="1809750" y="3150244"/>
            <a:ext cx="8572500" cy="2133451"/>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FACC15"/>
                </a:solidFill>
                <a:latin typeface="Inter"/>
                <a:ea typeface="Inter"/>
                <a:cs typeface="Inter"/>
                <a:sym typeface="Inter"/>
              </a:rPr>
              <a:t>"A machine learning–based solar prediction system that identifies the optimal placement of solar panels by forecasting maximum solar power output. Built in Python, converted to TFLite, imported via Edge Impulse, and deployed on GitHub Pages using WebAssembly."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descr="image.png" id="257" name="Google Shape;257;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8" name="Google Shape;258;p23"/>
          <p:cNvSpPr txBox="1"/>
          <p:nvPr/>
        </p:nvSpPr>
        <p:spPr>
          <a:xfrm>
            <a:off x="571500" y="950862"/>
            <a:ext cx="11601450"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Oswald"/>
                <a:ea typeface="Oswald"/>
                <a:cs typeface="Oswald"/>
                <a:sym typeface="Oswald"/>
              </a:rPr>
              <a:t>IMAGE SOURCES</a:t>
            </a:r>
            <a:endParaRPr/>
          </a:p>
        </p:txBody>
      </p:sp>
      <p:sp>
        <p:nvSpPr>
          <p:cNvPr id="259" name="Google Shape;259;p23"/>
          <p:cNvSpPr/>
          <p:nvPr/>
        </p:nvSpPr>
        <p:spPr>
          <a:xfrm>
            <a:off x="571500" y="1770012"/>
            <a:ext cx="11049000" cy="19050"/>
          </a:xfrm>
          <a:prstGeom prst="rect">
            <a:avLst/>
          </a:prstGeom>
          <a:solidFill>
            <a:srgbClr val="FACC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23"/>
          <p:cNvSpPr/>
          <p:nvPr/>
        </p:nvSpPr>
        <p:spPr>
          <a:xfrm>
            <a:off x="571500" y="2947243"/>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23"/>
          <p:cNvSpPr/>
          <p:nvPr/>
        </p:nvSpPr>
        <p:spPr>
          <a:xfrm>
            <a:off x="571500" y="3732014"/>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23"/>
          <p:cNvSpPr/>
          <p:nvPr/>
        </p:nvSpPr>
        <p:spPr>
          <a:xfrm>
            <a:off x="571500" y="4516784"/>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23"/>
          <p:cNvSpPr/>
          <p:nvPr/>
        </p:nvSpPr>
        <p:spPr>
          <a:xfrm>
            <a:off x="571500" y="549964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64" name="Google Shape;264;p23"/>
          <p:cNvPicPr preferRelativeResize="0"/>
          <p:nvPr/>
        </p:nvPicPr>
        <p:blipFill rotWithShape="1">
          <a:blip r:embed="rId4">
            <a:alphaModFix/>
          </a:blip>
          <a:srcRect b="0" l="0" r="0" t="0"/>
          <a:stretch/>
        </p:blipFill>
        <p:spPr>
          <a:xfrm>
            <a:off x="571500" y="2321421"/>
            <a:ext cx="857250" cy="476250"/>
          </a:xfrm>
          <a:prstGeom prst="rect">
            <a:avLst/>
          </a:prstGeom>
          <a:noFill/>
          <a:ln>
            <a:noFill/>
          </a:ln>
        </p:spPr>
      </p:pic>
      <p:sp>
        <p:nvSpPr>
          <p:cNvPr id="265" name="Google Shape;265;p23"/>
          <p:cNvSpPr txBox="1"/>
          <p:nvPr/>
        </p:nvSpPr>
        <p:spPr>
          <a:xfrm>
            <a:off x="1666875" y="2314872"/>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https://static.vecteezy.com/system/resources/previews/045/593/230/large_2x/solar-panels-in-a-sunny-field-of-flowers-photo.jpg</a:t>
            </a:r>
            <a:endParaRPr/>
          </a:p>
        </p:txBody>
      </p:sp>
      <p:sp>
        <p:nvSpPr>
          <p:cNvPr id="266" name="Google Shape;266;p23"/>
          <p:cNvSpPr txBox="1"/>
          <p:nvPr/>
        </p:nvSpPr>
        <p:spPr>
          <a:xfrm>
            <a:off x="1666875" y="2560587"/>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www.vecteezy.com</a:t>
            </a:r>
            <a:endParaRPr/>
          </a:p>
        </p:txBody>
      </p:sp>
      <p:pic>
        <p:nvPicPr>
          <p:cNvPr descr="image.png" id="267" name="Google Shape;267;p23"/>
          <p:cNvPicPr preferRelativeResize="0"/>
          <p:nvPr/>
        </p:nvPicPr>
        <p:blipFill rotWithShape="1">
          <a:blip r:embed="rId5">
            <a:alphaModFix/>
          </a:blip>
          <a:srcRect b="0" l="0" r="0" t="0"/>
          <a:stretch/>
        </p:blipFill>
        <p:spPr>
          <a:xfrm>
            <a:off x="571500" y="3106191"/>
            <a:ext cx="857250" cy="476250"/>
          </a:xfrm>
          <a:prstGeom prst="rect">
            <a:avLst/>
          </a:prstGeom>
          <a:noFill/>
          <a:ln>
            <a:noFill/>
          </a:ln>
        </p:spPr>
      </p:pic>
      <p:sp>
        <p:nvSpPr>
          <p:cNvPr id="268" name="Google Shape;268;p23"/>
          <p:cNvSpPr txBox="1"/>
          <p:nvPr/>
        </p:nvSpPr>
        <p:spPr>
          <a:xfrm>
            <a:off x="1666875" y="3099643"/>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https://ik.imagekit.io/upgrad1/abroad-images/imageCompo/images/neural_network_architecture8XR2PC.jpg?pr-true</a:t>
            </a:r>
            <a:endParaRPr/>
          </a:p>
        </p:txBody>
      </p:sp>
      <p:sp>
        <p:nvSpPr>
          <p:cNvPr id="269" name="Google Shape;269;p23"/>
          <p:cNvSpPr txBox="1"/>
          <p:nvPr/>
        </p:nvSpPr>
        <p:spPr>
          <a:xfrm>
            <a:off x="1666875" y="3345358"/>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upgrad.com</a:t>
            </a:r>
            <a:endParaRPr/>
          </a:p>
        </p:txBody>
      </p:sp>
      <p:pic>
        <p:nvPicPr>
          <p:cNvPr descr="image.png" id="270" name="Google Shape;270;p23"/>
          <p:cNvPicPr preferRelativeResize="0"/>
          <p:nvPr/>
        </p:nvPicPr>
        <p:blipFill rotWithShape="1">
          <a:blip r:embed="rId6">
            <a:alphaModFix/>
          </a:blip>
          <a:srcRect b="0" l="0" r="0" t="0"/>
          <a:stretch/>
        </p:blipFill>
        <p:spPr>
          <a:xfrm>
            <a:off x="571500" y="3890962"/>
            <a:ext cx="857250" cy="476250"/>
          </a:xfrm>
          <a:prstGeom prst="rect">
            <a:avLst/>
          </a:prstGeom>
          <a:noFill/>
          <a:ln>
            <a:noFill/>
          </a:ln>
        </p:spPr>
      </p:pic>
      <p:sp>
        <p:nvSpPr>
          <p:cNvPr id="271" name="Google Shape;271;p23"/>
          <p:cNvSpPr txBox="1"/>
          <p:nvPr/>
        </p:nvSpPr>
        <p:spPr>
          <a:xfrm>
            <a:off x="1666875" y="3884414"/>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https://www.edgeimpulse.com/blog/content/images/assets/ei_cycle_d_e59c64ebeda3ccc80fa9a298cd0835f2_944901ad41-2.jpg</a:t>
            </a:r>
            <a:endParaRPr/>
          </a:p>
        </p:txBody>
      </p:sp>
      <p:sp>
        <p:nvSpPr>
          <p:cNvPr id="272" name="Google Shape;272;p23"/>
          <p:cNvSpPr txBox="1"/>
          <p:nvPr/>
        </p:nvSpPr>
        <p:spPr>
          <a:xfrm>
            <a:off x="1666875" y="4130129"/>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www.edgeimpulse.com</a:t>
            </a:r>
            <a:endParaRPr/>
          </a:p>
        </p:txBody>
      </p:sp>
      <p:pic>
        <p:nvPicPr>
          <p:cNvPr descr="image.png" id="273" name="Google Shape;273;p23"/>
          <p:cNvPicPr preferRelativeResize="0"/>
          <p:nvPr/>
        </p:nvPicPr>
        <p:blipFill rotWithShape="1">
          <a:blip r:embed="rId7">
            <a:alphaModFix/>
          </a:blip>
          <a:srcRect b="0" l="0" r="0" t="0"/>
          <a:stretch/>
        </p:blipFill>
        <p:spPr>
          <a:xfrm>
            <a:off x="571500" y="4774852"/>
            <a:ext cx="857250" cy="476250"/>
          </a:xfrm>
          <a:prstGeom prst="rect">
            <a:avLst/>
          </a:prstGeom>
          <a:noFill/>
          <a:ln>
            <a:noFill/>
          </a:ln>
        </p:spPr>
      </p:pic>
      <p:sp>
        <p:nvSpPr>
          <p:cNvPr id="274" name="Google Shape;274;p23"/>
          <p:cNvSpPr txBox="1"/>
          <p:nvPr/>
        </p:nvSpPr>
        <p:spPr>
          <a:xfrm>
            <a:off x="1666875" y="4669184"/>
            <a:ext cx="9953625" cy="3961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https://moldstud.com/_next/image?url=https%3A%2F%2Fmoldstud.com%2Fuploads%2Fimages%2Fexploring-webassembly-the-future-of-web-development-with-javascript-bu.webp%3Fw%3D1216%26h%3D912&amp;w=3840&amp;q=75</a:t>
            </a:r>
            <a:endParaRPr/>
          </a:p>
        </p:txBody>
      </p:sp>
      <p:sp>
        <p:nvSpPr>
          <p:cNvPr id="275" name="Google Shape;275;p23"/>
          <p:cNvSpPr txBox="1"/>
          <p:nvPr/>
        </p:nvSpPr>
        <p:spPr>
          <a:xfrm>
            <a:off x="1666875" y="5112990"/>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moldstud.com</a:t>
            </a:r>
            <a:endParaRPr/>
          </a:p>
        </p:txBody>
      </p:sp>
      <p:pic>
        <p:nvPicPr>
          <p:cNvPr descr="image.png" id="276" name="Google Shape;276;p23"/>
          <p:cNvPicPr preferRelativeResize="0"/>
          <p:nvPr/>
        </p:nvPicPr>
        <p:blipFill rotWithShape="1">
          <a:blip r:embed="rId8">
            <a:alphaModFix/>
          </a:blip>
          <a:srcRect b="0" l="0" r="0" t="0"/>
          <a:stretch/>
        </p:blipFill>
        <p:spPr>
          <a:xfrm>
            <a:off x="571500" y="5658594"/>
            <a:ext cx="857250" cy="476250"/>
          </a:xfrm>
          <a:prstGeom prst="rect">
            <a:avLst/>
          </a:prstGeom>
          <a:noFill/>
          <a:ln>
            <a:noFill/>
          </a:ln>
        </p:spPr>
      </p:pic>
      <p:sp>
        <p:nvSpPr>
          <p:cNvPr id="277" name="Google Shape;277;p23"/>
          <p:cNvSpPr txBox="1"/>
          <p:nvPr/>
        </p:nvSpPr>
        <p:spPr>
          <a:xfrm>
            <a:off x="1666875" y="5652045"/>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Inter"/>
                <a:ea typeface="Inter"/>
                <a:cs typeface="Inter"/>
                <a:sym typeface="Inter"/>
              </a:rPr>
              <a:t>https://multipurposethemes.com/wp-content/uploads/2024/10/solar-dashboard-mpt-blog-7.jpg</a:t>
            </a:r>
            <a:endParaRPr/>
          </a:p>
        </p:txBody>
      </p:sp>
      <p:sp>
        <p:nvSpPr>
          <p:cNvPr id="278" name="Google Shape;278;p23"/>
          <p:cNvSpPr txBox="1"/>
          <p:nvPr/>
        </p:nvSpPr>
        <p:spPr>
          <a:xfrm>
            <a:off x="1666875" y="5897760"/>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Inter"/>
                <a:ea typeface="Inter"/>
                <a:cs typeface="Inter"/>
                <a:sym typeface="Inter"/>
              </a:rPr>
              <a:t>Source: </a:t>
            </a:r>
            <a:r>
              <a:rPr b="0" i="0" lang="en-US" sz="1200" u="none" cap="none" strike="noStrike">
                <a:solidFill>
                  <a:srgbClr val="4F46E5"/>
                </a:solidFill>
                <a:latin typeface="Inter"/>
                <a:ea typeface="Inter"/>
                <a:cs typeface="Inter"/>
                <a:sym typeface="Inter"/>
              </a:rPr>
              <a:t>multipurposethemes.com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